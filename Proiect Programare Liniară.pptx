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2_0.xml" ContentType="application/vnd.ms-powerpoint.comments+xml"/>
  <Override PartName="/ppt/notesSlides/notesSlide3.xml" ContentType="application/vnd.openxmlformats-officedocument.presentationml.notesSlide+xml"/>
  <Override PartName="/ppt/comments/modernComment_133_F8EA5D57.xml" ContentType="application/vnd.ms-powerpoint.comments+xml"/>
  <Override PartName="/ppt/notesSlides/notesSlide4.xml" ContentType="application/vnd.openxmlformats-officedocument.presentationml.notesSlide+xml"/>
  <Override PartName="/ppt/comments/modernComment_13A_C5A24E85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37_10F333FE.xml" ContentType="application/vnd.ms-powerpoint.comments+xml"/>
  <Override PartName="/ppt/notesSlides/notesSlide16.xml" ContentType="application/vnd.openxmlformats-officedocument.presentationml.notesSlide+xml"/>
  <Override PartName="/ppt/comments/modernComment_117_0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06_0.xml" ContentType="application/vnd.ms-powerpoint.comments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38"/>
  </p:notesMasterIdLst>
  <p:sldIdLst>
    <p:sldId id="256" r:id="rId5"/>
    <p:sldId id="258" r:id="rId6"/>
    <p:sldId id="259" r:id="rId7"/>
    <p:sldId id="307" r:id="rId8"/>
    <p:sldId id="322" r:id="rId9"/>
    <p:sldId id="314" r:id="rId10"/>
    <p:sldId id="321" r:id="rId11"/>
    <p:sldId id="260" r:id="rId12"/>
    <p:sldId id="323" r:id="rId13"/>
    <p:sldId id="261" r:id="rId14"/>
    <p:sldId id="263" r:id="rId15"/>
    <p:sldId id="264" r:id="rId16"/>
    <p:sldId id="324" r:id="rId17"/>
    <p:sldId id="317" r:id="rId18"/>
    <p:sldId id="318" r:id="rId19"/>
    <p:sldId id="305" r:id="rId20"/>
    <p:sldId id="267" r:id="rId21"/>
    <p:sldId id="276" r:id="rId22"/>
    <p:sldId id="309" r:id="rId23"/>
    <p:sldId id="319" r:id="rId24"/>
    <p:sldId id="310" r:id="rId25"/>
    <p:sldId id="265" r:id="rId26"/>
    <p:sldId id="311" r:id="rId27"/>
    <p:sldId id="312" r:id="rId28"/>
    <p:sldId id="279" r:id="rId29"/>
    <p:sldId id="315" r:id="rId30"/>
    <p:sldId id="316" r:id="rId31"/>
    <p:sldId id="313" r:id="rId32"/>
    <p:sldId id="326" r:id="rId33"/>
    <p:sldId id="327" r:id="rId34"/>
    <p:sldId id="325" r:id="rId35"/>
    <p:sldId id="262" r:id="rId36"/>
    <p:sldId id="284" r:id="rId37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39"/>
      <p:bold r:id="rId40"/>
      <p:italic r:id="rId41"/>
      <p:boldItalic r:id="rId42"/>
    </p:embeddedFont>
    <p:embeddedFont>
      <p:font typeface="Barlow Semi Condensed Medium" panose="00000606000000000000" pitchFamily="2" charset="0"/>
      <p:regular r:id="rId43"/>
      <p:bold r:id="rId44"/>
      <p:italic r:id="rId45"/>
      <p:boldItalic r:id="rId46"/>
    </p:embeddedFont>
    <p:embeddedFont>
      <p:font typeface="Cambria Math" panose="02040503050406030204" pitchFamily="18" charset="0"/>
      <p:regular r:id="rId47"/>
    </p:embeddedFont>
    <p:embeddedFont>
      <p:font typeface="Ebrima" panose="02000000000000000000" pitchFamily="2" charset="0"/>
      <p:regular r:id="rId48"/>
      <p:bold r:id="rId49"/>
    </p:embeddedFont>
    <p:embeddedFont>
      <p:font typeface="Fjalla One" panose="02000506040000020004" pitchFamily="2" charset="0"/>
      <p:regular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1DE514-B8E8-3814-5424-01015B3B926F}" name="Minodora-Elena PODOLEANU (143795)" initials="MP" userId="S::minodora.podoleanu@stud.fsa.upb.ro::be4d59cd-123b-4ddb-91c8-707c7cdcb74f" providerId="AD"/>
  <p188:author id="{125D6497-B5D5-E6D9-7911-6A83C3055695}" name="Iustin-Florin DUMITRACHE (140414)" initials="I(" userId="S::iustin.dumitrache@stud.fsa.upb.ro::c5cecf0a-1ec1-4b19-9e8c-febd6a0202d9" providerId="AD"/>
  <p188:author id="{4D71F3FB-DEFD-2052-F1C1-E7D3E65D9F1C}" name="Cristina-Maria IONESCU (140861)" initials="C(" userId="S::cionescu1310@stud.fsa.upb.ro::be55cd90-cbd8-4460-9628-7d03379b56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D2C62-4602-CF4E-A6F5-404D9CC17836}" v="35" dt="2026-03-23T17:09:06.143"/>
    <p1510:client id="{6AFB9F92-B89D-0BF7-0BE3-DFD927E99E5E}" v="43" dt="2026-03-23T16:40:36.239"/>
    <p1510:client id="{6F67BE4E-73F3-4502-8677-9BCDD26B0416}" v="419" dt="2026-03-23T17:05:13.896"/>
    <p1510:client id="{B0F3CE27-7AB9-EE4A-D589-8A1F7694E5E9}" v="107" dt="2026-03-23T16:47:26.607"/>
  </p1510:revLst>
</p1510:revInfo>
</file>

<file path=ppt/tableStyles.xml><?xml version="1.0" encoding="utf-8"?>
<a:tblStyleLst xmlns:a="http://schemas.openxmlformats.org/drawingml/2006/main" def="{7ECA6B4A-AF96-437D-9CBA-44A3A769D9D9}">
  <a:tblStyle styleId="{7ECA6B4A-AF96-437D-9CBA-44A3A769D9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/Relationships>
</file>

<file path=ppt/comments/modernComment_13A_C5A24E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9C4108-7C9F-4C1A-B154-83A322D3D5DF}" authorId="{125D6497-B5D5-E6D9-7911-6A83C3055695}" created="2026-03-23T14:35:45.4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15748485" sldId="314"/>
      <ac:spMk id="2" creationId="{E73F3D50-CA10-CA40-8E48-26E2862D601B}"/>
    </ac:deMkLst>
    <p188:txBody>
      <a:bodyPr/>
      <a:lstStyle/>
      <a:p>
        <a:r>
          <a:rPr lang="en-US"/>
          <a:t>la astea cu formule si explcatii chiar nu stiu ce sa pun ca tranzitie sau chetii bonus idk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2E5879-76C6-4435-AD1B-E7D04BA059E7}" authorId="{291DE514-B8E8-3814-5424-01015B3B926F}" created="2026-03-23T00:28:21.032">
    <pc:sldMkLst xmlns:pc="http://schemas.microsoft.com/office/powerpoint/2013/main/command">
      <pc:docMk/>
      <pc:sldMk cId="0" sldId="256"/>
    </pc:sldMkLst>
    <p188:replyLst>
      <p188:reply id="{52F9BEFD-D76F-4824-8641-5527D980D3F3}" authorId="{125D6497-B5D5-E6D9-7911-6A83C3055695}" created="2026-03-23T14:34:59.739">
        <p188:txBody>
          <a:bodyPr/>
          <a:lstStyle/>
          <a:p>
            <a:r>
              <a:rPr lang="en-US"/>
              <a:t>in teorie toate slide urile au o tranzitie dar mie nu imi apare nimic idk</a:t>
            </a:r>
          </a:p>
        </p188:txBody>
      </p188:reply>
    </p188:replyLst>
    <p188:txBody>
      <a:bodyPr/>
      <a:lstStyle/>
      <a:p>
        <a:r>
          <a:rPr lang="ro-RO"/>
          <a:t>Partea creativa, font, animatii mai trebuie lucrata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24B34D-2A0A-49C8-A0BB-16C6D648E4A3}" authorId="{291DE514-B8E8-3814-5424-01015B3B926F}" created="2026-03-23T00:27:02.447">
    <pc:sldMkLst xmlns:pc="http://schemas.microsoft.com/office/powerpoint/2013/main/command">
      <pc:docMk/>
      <pc:sldMk cId="0" sldId="258"/>
    </pc:sldMkLst>
    <p188:replyLst>
      <p188:reply id="{CA9B8BF9-D714-42AB-B5B6-9B155455FD27}" authorId="{125D6497-B5D5-E6D9-7911-6A83C3055695}" created="2026-03-23T14:33:39.989">
        <p188:txBody>
          <a:bodyPr/>
          <a:lstStyle/>
          <a:p>
            <a:r>
              <a:rPr lang="en-US"/>
              <a:t>le am pus pe cele din word</a:t>
            </a:r>
          </a:p>
        </p188:txBody>
      </p188:reply>
    </p188:replyLst>
    <p188:txBody>
      <a:bodyPr/>
      <a:lstStyle/>
      <a:p>
        <a:r>
          <a:rPr lang="ro-RO"/>
          <a:t>Trebuie modificat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9124F6-632D-4DBA-91AA-EFE2B65B1468}" authorId="{291DE514-B8E8-3814-5424-01015B3B926F}" created="2026-03-23T00:35:17.975">
    <pc:sldMkLst xmlns:pc="http://schemas.microsoft.com/office/powerpoint/2013/main/command">
      <pc:docMk/>
      <pc:sldMk cId="0" sldId="262"/>
    </pc:sldMkLst>
    <p188:txBody>
      <a:bodyPr/>
      <a:lstStyle/>
      <a:p>
        <a:r>
          <a:rPr lang="ro-RO"/>
          <a:t>bibliografie</a:t>
        </a:r>
      </a:p>
    </p188:txBody>
  </p188:cm>
</p188:cmLst>
</file>

<file path=ppt/comments/modernComment_11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085123-2F2B-434E-BEB0-F0F445E71808}" authorId="{291DE514-B8E8-3814-5424-01015B3B926F}" created="2026-03-23T00:34:54.314">
    <pc:sldMkLst xmlns:pc="http://schemas.microsoft.com/office/powerpoint/2013/main/command">
      <pc:docMk/>
      <pc:sldMk cId="0" sldId="279"/>
    </pc:sldMkLst>
    <p188:txBody>
      <a:bodyPr/>
      <a:lstStyle/>
      <a:p>
        <a:r>
          <a:rPr lang="ro-RO"/>
          <a:t>Aduagati voi din cod</a:t>
        </a:r>
      </a:p>
    </p188:txBody>
  </p188:cm>
</p188:cmLst>
</file>

<file path=ppt/comments/modernComment_133_F8EA5D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ECF69E-B6F9-47DC-9F29-EDA80226803F}" authorId="{291DE514-B8E8-3814-5424-01015B3B926F}" created="2026-03-23T00:33:21.23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76108887" sldId="307"/>
      <ac:spMk id="4" creationId="{3027F2C1-DC4E-7327-9BDC-9B95644837BC}"/>
      <ac:txMk cp="195" len="1">
        <ac:context len="697" hash="3201198741"/>
      </ac:txMk>
    </ac:txMkLst>
    <p188:pos x="6274128" y="1082482"/>
    <p188:txBody>
      <a:bodyPr/>
      <a:lstStyle/>
      <a:p>
        <a:r>
          <a:rPr lang="ro-RO"/>
          <a:t>.( poate fi zis si verbal ca sa o scoatem de pe slide) aia cu istoricul</a:t>
        </a:r>
      </a:p>
    </p188:txBody>
  </p188:cm>
</p188:cmLst>
</file>

<file path=ppt/comments/modernComment_137_10F333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ED4895-978B-4753-BFD6-92728E529C6E}" authorId="{125D6497-B5D5-E6D9-7911-6A83C3055695}" created="2026-03-23T12:05:24.985">
    <pc:sldMkLst xmlns:pc="http://schemas.microsoft.com/office/powerpoint/2013/main/command">
      <pc:docMk/>
      <pc:sldMk cId="284374014" sldId="311"/>
    </pc:sldMkLst>
    <p188:replyLst>
      <p188:reply id="{14C2A273-87EC-47E9-96CE-68B70C5602EC}" authorId="{4D71F3FB-DEFD-2052-F1C1-E7D3E65D9F1C}" created="2026-03-23T12:14:39.552">
        <p188:txBody>
          <a:bodyPr/>
          <a:lstStyle/>
          <a:p>
            <a:r>
              <a:rPr lang="ro-RO"/>
              <a:t>nu iti apar bine chenarele puse,iti dau eu ss</a:t>
            </a:r>
          </a:p>
        </p188:txBody>
      </p188:reply>
    </p188:replyLst>
    <p188:txBody>
      <a:bodyPr/>
      <a:lstStyle/>
      <a:p>
        <a:r>
          <a:rPr lang="en-US"/>
          <a:t>am pus tabelul nou din word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8AD68BD0-A817-BE92-99B5-E1A49E3E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E8240777-0A2E-E5C0-A501-2E92B4374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6A5E68BF-F553-D757-8659-1115BD343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178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88371E42-DAD5-B718-0018-F5AEC82E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095ADEB8-F7E4-8D70-35F6-751B9817B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374D2924-0936-9005-BEB9-62DBA5382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272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6162D69D-26A4-D717-C4F0-29B6F19E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A24681AB-7504-3968-C8DE-CAD17A883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FF4657FB-C344-0DE7-3342-3D2223CDE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060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59BD9C12-144B-E9CA-0552-057A0C08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F44DB1A7-BAA4-0425-96C4-D697F60B8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06080206-3266-0DAD-D030-F407A3334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682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7E683A75-4953-929D-E4EC-4153EBC5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5C6C898B-2F6B-D585-FCC6-B08ACF384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B4C133E3-1B76-8F58-35AD-E48C85440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852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86fa6133bc_4_2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86fa6133bc_4_2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>
          <a:extLst>
            <a:ext uri="{FF2B5EF4-FFF2-40B4-BE49-F238E27FC236}">
              <a16:creationId xmlns:a16="http://schemas.microsoft.com/office/drawing/2014/main" id="{F3EE4B44-74AF-AABA-8D2A-7B693EC9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>
            <a:extLst>
              <a:ext uri="{FF2B5EF4-FFF2-40B4-BE49-F238E27FC236}">
                <a16:creationId xmlns:a16="http://schemas.microsoft.com/office/drawing/2014/main" id="{3A8CEBF1-3DB6-3070-9347-09AB507A2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>
            <a:extLst>
              <a:ext uri="{FF2B5EF4-FFF2-40B4-BE49-F238E27FC236}">
                <a16:creationId xmlns:a16="http://schemas.microsoft.com/office/drawing/2014/main" id="{83BB15B0-931B-F514-18A1-67663843C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522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7EABE930-836F-4A6C-503A-E28D8789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C83A714C-6E81-C0CF-A2CA-25F5DB366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0CDF6477-E4C9-6843-0EE3-2E7C9D4AF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097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>
          <a:extLst>
            <a:ext uri="{FF2B5EF4-FFF2-40B4-BE49-F238E27FC236}">
              <a16:creationId xmlns:a16="http://schemas.microsoft.com/office/drawing/2014/main" id="{F8F6D0D2-8FF3-16CE-FD74-FE99CF0F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>
            <a:extLst>
              <a:ext uri="{FF2B5EF4-FFF2-40B4-BE49-F238E27FC236}">
                <a16:creationId xmlns:a16="http://schemas.microsoft.com/office/drawing/2014/main" id="{BE54142B-BA5F-0507-F29F-4C19AB0D4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>
            <a:extLst>
              <a:ext uri="{FF2B5EF4-FFF2-40B4-BE49-F238E27FC236}">
                <a16:creationId xmlns:a16="http://schemas.microsoft.com/office/drawing/2014/main" id="{67C22F09-8591-7BB7-4760-89AD3CD65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7931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5" r:id="rId12"/>
    <p:sldLayoutId id="2147483669" r:id="rId13"/>
    <p:sldLayoutId id="2147483670" r:id="rId14"/>
    <p:sldLayoutId id="2147483671" r:id="rId15"/>
    <p:sldLayoutId id="2147483673" r:id="rId16"/>
    <p:sldLayoutId id="2147483674" r:id="rId17"/>
    <p:sldLayoutId id="2147483675" r:id="rId18"/>
    <p:sldLayoutId id="2147483676" r:id="rId19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microsoft.com/office/2018/10/relationships/comments" Target="../comments/modernComment_102_0.xml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7.xml"/><Relationship Id="rId11" Type="http://schemas.openxmlformats.org/officeDocument/2006/relationships/image" Target="../media/image1.png"/><Relationship Id="rId5" Type="http://schemas.openxmlformats.org/officeDocument/2006/relationships/slide" Target="slide5.xml"/><Relationship Id="rId10" Type="http://schemas.openxmlformats.org/officeDocument/2006/relationships/slide" Target="slide29.xml"/><Relationship Id="rId4" Type="http://schemas.openxmlformats.org/officeDocument/2006/relationships/slide" Target="slide3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3_F8EA5D57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3A_C5A24E8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4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microsoft.com/office/2018/10/relationships/comments" Target="../comments/modernComment_137_10F333FE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gif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tipub-my.sharepoint.com/personal/minodora_podoleanu_stud_fsa_upb_ro/Documents/Technology%20Consulting%20_%20by%20Slidesgo%20%5bAuto-saved%5d.pptx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4370699" y="867818"/>
            <a:ext cx="3264300" cy="19578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 err="1">
                <a:latin typeface="Calibri"/>
                <a:ea typeface="Calibri"/>
                <a:cs typeface="Calibri"/>
              </a:rPr>
              <a:t>Problema</a:t>
            </a:r>
            <a:r>
              <a:rPr lang="en" sz="3600">
                <a:latin typeface="Calibri"/>
                <a:ea typeface="Calibri"/>
                <a:cs typeface="Calibri"/>
              </a:rPr>
              <a:t> de </a:t>
            </a:r>
            <a:r>
              <a:rPr lang="en" sz="3600" err="1">
                <a:latin typeface="Calibri"/>
                <a:ea typeface="Calibri"/>
                <a:cs typeface="Calibri"/>
              </a:rPr>
              <a:t>programare</a:t>
            </a:r>
            <a:r>
              <a:rPr lang="en" sz="3600">
                <a:latin typeface="Calibri"/>
                <a:ea typeface="Calibri"/>
                <a:cs typeface="Calibri"/>
              </a:rPr>
              <a:t> </a:t>
            </a:r>
            <a:r>
              <a:rPr lang="en" sz="3600" err="1">
                <a:latin typeface="Calibri"/>
                <a:ea typeface="Calibri"/>
                <a:cs typeface="Calibri"/>
              </a:rPr>
              <a:t>liniară</a:t>
            </a:r>
            <a:r>
              <a:rPr lang="en" sz="36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6068633" y="3464848"/>
            <a:ext cx="2775627" cy="23041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Studenți:</a:t>
            </a:r>
            <a:endParaRPr lang="ro-RO" sz="1600"/>
          </a:p>
          <a:p>
            <a:pPr marL="342900" indent="-342900" algn="l">
              <a:buFont typeface="Arial"/>
              <a:buChar char="•"/>
            </a:pPr>
            <a:r>
              <a:rPr lang="en" sz="1600"/>
              <a:t>Dumitrache Iustin-Florin</a:t>
            </a:r>
          </a:p>
          <a:p>
            <a:pPr marL="342900" indent="-342900" algn="l">
              <a:buFont typeface="Arial"/>
              <a:buChar char="•"/>
            </a:pPr>
            <a:r>
              <a:rPr lang="en" sz="1600"/>
              <a:t>Geantă Grigorie</a:t>
            </a:r>
          </a:p>
          <a:p>
            <a:pPr marL="342900" indent="-342900" algn="l">
              <a:buFont typeface="Arial"/>
              <a:buChar char="•"/>
            </a:pPr>
            <a:r>
              <a:rPr lang="en" sz="1600"/>
              <a:t>Ionescu Cristina-Maria</a:t>
            </a:r>
          </a:p>
          <a:p>
            <a:pPr marL="342900" indent="-342900" algn="l">
              <a:buFont typeface="Arial"/>
              <a:buChar char="•"/>
            </a:pPr>
            <a:r>
              <a:rPr lang="en" sz="1600" err="1"/>
              <a:t>Podoleanu</a:t>
            </a:r>
            <a:r>
              <a:rPr lang="en" sz="1600"/>
              <a:t> Minodora-Elena</a:t>
            </a:r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5080017" y="72266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endParaRPr lang="en" sz="1200">
                  <a:solidFill>
                    <a:schemeClr val="lt1"/>
                  </a:solidFill>
                  <a:latin typeface="Fjalla One"/>
                </a:endParaRPr>
              </a:p>
              <a:p>
                <a:pPr marL="0" lvl="0" indent="0" algn="ctr">
                  <a:buSzPts val="2000"/>
                </a:pPr>
                <a:endParaRPr lang="ro-RO" sz="2000">
                  <a:solidFill>
                    <a:schemeClr val="lt1"/>
                  </a:solidFill>
                  <a:latin typeface="Fjalla One"/>
                </a:endParaRPr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700156"/>
            <a:ext cx="635100" cy="733491"/>
            <a:chOff x="731647" y="1650460"/>
            <a:chExt cx="635100" cy="733491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264872" y="141268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366035" y="777638"/>
            <a:ext cx="3592447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cs typeface="Arial"/>
                <a:sym typeface="Arial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Introducere în programarea liniară</a:t>
            </a: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481991" y="1618041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ro-RO">
                <a:solidFill>
                  <a:srgbClr val="77C6FC"/>
                </a:solidFill>
                <a:hlinkClick r:id="rId5" action="ppaction://hlinksldjump"/>
              </a:rPr>
              <a:t>Algoritmul Simplex </a:t>
            </a:r>
            <a:r>
              <a:rPr lang="ro-RO" err="1">
                <a:solidFill>
                  <a:srgbClr val="77C6FC"/>
                </a:solidFill>
                <a:hlinkClick r:id="rId5" action="ppaction://hlinksldjump"/>
              </a:rPr>
              <a:t>Primal</a:t>
            </a:r>
            <a:r>
              <a:rPr lang="ro-RO">
                <a:solidFill>
                  <a:srgbClr val="77C6FC"/>
                </a:solidFill>
                <a:hlinkClick r:id="rId5" action="ppaction://hlinksldjump"/>
              </a:rPr>
              <a:t>-introducere</a:t>
            </a:r>
            <a:endParaRPr lang="en">
              <a:solidFill>
                <a:srgbClr val="77C6FC"/>
              </a:solidFill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481991" y="2813238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sz="1800">
                <a:solidFill>
                  <a:srgbClr val="77C6FC"/>
                </a:solidFill>
                <a:latin typeface="Barlow Semi Condensed Medium"/>
                <a:hlinkClick r:id="rId6" action="ppaction://hlinksldjump"/>
              </a:rPr>
              <a:t>Modelul matematic</a:t>
            </a:r>
            <a:endParaRPr lang="en" sz="1800">
              <a:solidFill>
                <a:srgbClr val="77C6FC"/>
              </a:solidFill>
              <a:latin typeface="Barlow Semi Condensed Medium"/>
            </a:endParaRPr>
          </a:p>
          <a:p>
            <a:endParaRPr lang="en" sz="1800">
              <a:solidFill>
                <a:srgbClr val="77C6FC"/>
              </a:solidFill>
              <a:latin typeface="Barlow Semi Condensed Medium"/>
            </a:endParaRPr>
          </a:p>
          <a:p>
            <a:pPr>
              <a:buSzPts val="1100"/>
            </a:pPr>
            <a:endParaRPr lang="en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481991" y="390694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ro-RO">
                <a:solidFill>
                  <a:srgbClr val="77C6FC"/>
                </a:solidFill>
                <a:hlinkClick r:id="rId7" action="ppaction://hlinksldjump"/>
              </a:rPr>
              <a:t>Aduce</a:t>
            </a:r>
            <a:r>
              <a:rPr lang="en">
                <a:solidFill>
                  <a:srgbClr val="77C6FC"/>
                </a:solidFill>
                <a:hlinkClick r:id="rId7" action="ppaction://hlinksldjump"/>
              </a:rPr>
              <a:t>rea problemei la forma standard (PLS)</a:t>
            </a:r>
            <a:endParaRPr lang="en">
              <a:solidFill>
                <a:srgbClr val="77C6FC"/>
              </a:solidFill>
            </a:endParaRPr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22099" y="1892477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" name="Google Shape;2106;p37">
            <a:extLst>
              <a:ext uri="{FF2B5EF4-FFF2-40B4-BE49-F238E27FC236}">
                <a16:creationId xmlns:a16="http://schemas.microsoft.com/office/drawing/2014/main" id="{C1489431-BD7B-9CBD-90C3-5A97C91204E4}"/>
              </a:ext>
            </a:extLst>
          </p:cNvPr>
          <p:cNvGrpSpPr/>
          <p:nvPr/>
        </p:nvGrpSpPr>
        <p:grpSpPr>
          <a:xfrm>
            <a:off x="731647" y="722660"/>
            <a:ext cx="635100" cy="734640"/>
            <a:chOff x="731647" y="573573"/>
            <a:chExt cx="635100" cy="734640"/>
          </a:xfrm>
        </p:grpSpPr>
        <p:grpSp>
          <p:nvGrpSpPr>
            <p:cNvPr id="4" name="Google Shape;2107;p37">
              <a:extLst>
                <a:ext uri="{FF2B5EF4-FFF2-40B4-BE49-F238E27FC236}">
                  <a16:creationId xmlns:a16="http://schemas.microsoft.com/office/drawing/2014/main" id="{8F429A8B-3505-5A11-7232-61AE97BAE446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9" name="Google Shape;2108;p37">
                <a:extLst>
                  <a:ext uri="{FF2B5EF4-FFF2-40B4-BE49-F238E27FC236}">
                    <a16:creationId xmlns:a16="http://schemas.microsoft.com/office/drawing/2014/main" id="{E12750F6-EC9D-DC9A-9C9A-182E152004F0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109;p37">
                <a:extLst>
                  <a:ext uri="{FF2B5EF4-FFF2-40B4-BE49-F238E27FC236}">
                    <a16:creationId xmlns:a16="http://schemas.microsoft.com/office/drawing/2014/main" id="{38C21D59-394E-B5B9-A16C-8B2C04CF75D6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2110;p37">
              <a:extLst>
                <a:ext uri="{FF2B5EF4-FFF2-40B4-BE49-F238E27FC236}">
                  <a16:creationId xmlns:a16="http://schemas.microsoft.com/office/drawing/2014/main" id="{EADA8E02-DD10-8996-5A3A-93D0B49421B3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6" name="Google Shape;2111;p37">
                <a:extLst>
                  <a:ext uri="{FF2B5EF4-FFF2-40B4-BE49-F238E27FC236}">
                    <a16:creationId xmlns:a16="http://schemas.microsoft.com/office/drawing/2014/main" id="{5AA3CF64-5EB4-C3B3-BCD4-CE224BFCBCAC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7" name="Google Shape;2112;p37">
                <a:extLst>
                  <a:ext uri="{FF2B5EF4-FFF2-40B4-BE49-F238E27FC236}">
                    <a16:creationId xmlns:a16="http://schemas.microsoft.com/office/drawing/2014/main" id="{A59610AC-0EF0-123B-BDEB-482EA317B93E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8" name="Google Shape;2113;p37">
                <a:extLst>
                  <a:ext uri="{FF2B5EF4-FFF2-40B4-BE49-F238E27FC236}">
                    <a16:creationId xmlns:a16="http://schemas.microsoft.com/office/drawing/2014/main" id="{F00D878A-A030-2215-26A0-ADA15256DB69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2" name="Google Shape;2147;p37">
            <a:extLst>
              <a:ext uri="{FF2B5EF4-FFF2-40B4-BE49-F238E27FC236}">
                <a16:creationId xmlns:a16="http://schemas.microsoft.com/office/drawing/2014/main" id="{358DE98B-D90D-F71E-00EB-66C177E05743}"/>
              </a:ext>
            </a:extLst>
          </p:cNvPr>
          <p:cNvSpPr txBox="1">
            <a:spLocks/>
          </p:cNvSpPr>
          <p:nvPr/>
        </p:nvSpPr>
        <p:spPr>
          <a:xfrm>
            <a:off x="825412" y="916189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/>
              <a:t>0</a:t>
            </a:r>
            <a:r>
              <a:rPr lang="ro-RO"/>
              <a:t>1</a:t>
            </a:r>
            <a:endParaRPr lang="en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957E833B-28A8-4FDE-4A45-B72F07AEEB43}"/>
              </a:ext>
            </a:extLst>
          </p:cNvPr>
          <p:cNvSpPr txBox="1"/>
          <p:nvPr/>
        </p:nvSpPr>
        <p:spPr>
          <a:xfrm>
            <a:off x="5160066" y="848968"/>
            <a:ext cx="86139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Fjalla One"/>
              </a:rPr>
              <a:t>05</a:t>
            </a:r>
            <a:endParaRPr lang="en-US"/>
          </a:p>
          <a:p>
            <a:pPr algn="ctr"/>
            <a:endParaRPr lang="ro-RO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C9E6A38F-0EF7-C2E6-9E5B-ACD77872140B}"/>
              </a:ext>
            </a:extLst>
          </p:cNvPr>
          <p:cNvSpPr txBox="1"/>
          <p:nvPr/>
        </p:nvSpPr>
        <p:spPr>
          <a:xfrm>
            <a:off x="5879972" y="875974"/>
            <a:ext cx="19980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1800">
                <a:solidFill>
                  <a:schemeClr val="accent1"/>
                </a:solidFill>
                <a:latin typeface="Barlow Semi Condensed Medium"/>
                <a:sym typeface="Barlow Semi Condensed Medium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Pseudocod</a:t>
            </a:r>
            <a:endParaRPr lang="ro-RO">
              <a:solidFill>
                <a:schemeClr val="accent1"/>
              </a:solidFill>
            </a:endParaRPr>
          </a:p>
        </p:txBody>
      </p:sp>
      <p:sp>
        <p:nvSpPr>
          <p:cNvPr id="21" name="Google Shape;2147;p37">
            <a:extLst>
              <a:ext uri="{FF2B5EF4-FFF2-40B4-BE49-F238E27FC236}">
                <a16:creationId xmlns:a16="http://schemas.microsoft.com/office/drawing/2014/main" id="{1CE58A03-39B5-C61B-2D93-7978A434AD4E}"/>
              </a:ext>
            </a:extLst>
          </p:cNvPr>
          <p:cNvSpPr txBox="1">
            <a:spLocks/>
          </p:cNvSpPr>
          <p:nvPr/>
        </p:nvSpPr>
        <p:spPr>
          <a:xfrm>
            <a:off x="5037946" y="172457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/>
              <a:t>01</a:t>
            </a:r>
          </a:p>
        </p:txBody>
      </p:sp>
      <p:grpSp>
        <p:nvGrpSpPr>
          <p:cNvPr id="22" name="Google Shape;2106;p37">
            <a:extLst>
              <a:ext uri="{FF2B5EF4-FFF2-40B4-BE49-F238E27FC236}">
                <a16:creationId xmlns:a16="http://schemas.microsoft.com/office/drawing/2014/main" id="{C571AD21-E666-64CB-2BA4-7A275766D66A}"/>
              </a:ext>
            </a:extLst>
          </p:cNvPr>
          <p:cNvGrpSpPr/>
          <p:nvPr/>
        </p:nvGrpSpPr>
        <p:grpSpPr>
          <a:xfrm>
            <a:off x="5121429" y="1700008"/>
            <a:ext cx="635100" cy="734640"/>
            <a:chOff x="731647" y="573573"/>
            <a:chExt cx="635100" cy="734640"/>
          </a:xfrm>
        </p:grpSpPr>
        <p:grpSp>
          <p:nvGrpSpPr>
            <p:cNvPr id="23" name="Google Shape;2107;p37">
              <a:extLst>
                <a:ext uri="{FF2B5EF4-FFF2-40B4-BE49-F238E27FC236}">
                  <a16:creationId xmlns:a16="http://schemas.microsoft.com/office/drawing/2014/main" id="{90818897-93C3-EE72-A503-826E607C9C97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8" name="Google Shape;2108;p37">
                <a:extLst>
                  <a:ext uri="{FF2B5EF4-FFF2-40B4-BE49-F238E27FC236}">
                    <a16:creationId xmlns:a16="http://schemas.microsoft.com/office/drawing/2014/main" id="{00A0F6C5-8F46-111E-30E1-9E96CC732FA6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109;p37">
                <a:extLst>
                  <a:ext uri="{FF2B5EF4-FFF2-40B4-BE49-F238E27FC236}">
                    <a16:creationId xmlns:a16="http://schemas.microsoft.com/office/drawing/2014/main" id="{FBBCF0AC-6EA1-B8B7-670F-122A5EA9584C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110;p37">
              <a:extLst>
                <a:ext uri="{FF2B5EF4-FFF2-40B4-BE49-F238E27FC236}">
                  <a16:creationId xmlns:a16="http://schemas.microsoft.com/office/drawing/2014/main" id="{A71291E2-7911-ABB1-6E87-AA4FF43D5E80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5" name="Google Shape;2111;p37">
                <a:extLst>
                  <a:ext uri="{FF2B5EF4-FFF2-40B4-BE49-F238E27FC236}">
                    <a16:creationId xmlns:a16="http://schemas.microsoft.com/office/drawing/2014/main" id="{0564EBC2-D1E0-6A6B-2BD5-37FCB20DD305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6" name="Google Shape;2112;p37">
                <a:extLst>
                  <a:ext uri="{FF2B5EF4-FFF2-40B4-BE49-F238E27FC236}">
                    <a16:creationId xmlns:a16="http://schemas.microsoft.com/office/drawing/2014/main" id="{F4CE8C5E-E041-B64D-89C6-11912030AE05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7" name="Google Shape;2113;p37">
                <a:extLst>
                  <a:ext uri="{FF2B5EF4-FFF2-40B4-BE49-F238E27FC236}">
                    <a16:creationId xmlns:a16="http://schemas.microsoft.com/office/drawing/2014/main" id="{38C41E32-45BB-0424-D4E3-53886AE3DEFB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30" name="Google Shape;2147;p37">
            <a:extLst>
              <a:ext uri="{FF2B5EF4-FFF2-40B4-BE49-F238E27FC236}">
                <a16:creationId xmlns:a16="http://schemas.microsoft.com/office/drawing/2014/main" id="{0ABBC3BB-A5A3-8E43-D284-47931766AACF}"/>
              </a:ext>
            </a:extLst>
          </p:cNvPr>
          <p:cNvSpPr txBox="1">
            <a:spLocks/>
          </p:cNvSpPr>
          <p:nvPr/>
        </p:nvSpPr>
        <p:spPr>
          <a:xfrm>
            <a:off x="5215194" y="1893537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/>
              <a:t>06</a:t>
            </a:r>
          </a:p>
        </p:txBody>
      </p:sp>
      <p:sp>
        <p:nvSpPr>
          <p:cNvPr id="32" name="Google Shape;2147;p37">
            <a:extLst>
              <a:ext uri="{FF2B5EF4-FFF2-40B4-BE49-F238E27FC236}">
                <a16:creationId xmlns:a16="http://schemas.microsoft.com/office/drawing/2014/main" id="{488E2E8C-76E9-A0C5-BAE1-25E62A5EC583}"/>
              </a:ext>
            </a:extLst>
          </p:cNvPr>
          <p:cNvSpPr txBox="1">
            <a:spLocks/>
          </p:cNvSpPr>
          <p:nvPr/>
        </p:nvSpPr>
        <p:spPr>
          <a:xfrm>
            <a:off x="5054512" y="2834441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/>
              <a:t>01</a:t>
            </a:r>
          </a:p>
        </p:txBody>
      </p:sp>
      <p:grpSp>
        <p:nvGrpSpPr>
          <p:cNvPr id="33" name="Google Shape;2106;p37">
            <a:extLst>
              <a:ext uri="{FF2B5EF4-FFF2-40B4-BE49-F238E27FC236}">
                <a16:creationId xmlns:a16="http://schemas.microsoft.com/office/drawing/2014/main" id="{440A469A-6829-6EE6-34ED-384B810B6ECE}"/>
              </a:ext>
            </a:extLst>
          </p:cNvPr>
          <p:cNvGrpSpPr/>
          <p:nvPr/>
        </p:nvGrpSpPr>
        <p:grpSpPr>
          <a:xfrm>
            <a:off x="5121430" y="2727051"/>
            <a:ext cx="635100" cy="734640"/>
            <a:chOff x="731647" y="573573"/>
            <a:chExt cx="635100" cy="734640"/>
          </a:xfrm>
        </p:grpSpPr>
        <p:grpSp>
          <p:nvGrpSpPr>
            <p:cNvPr id="34" name="Google Shape;2107;p37">
              <a:extLst>
                <a:ext uri="{FF2B5EF4-FFF2-40B4-BE49-F238E27FC236}">
                  <a16:creationId xmlns:a16="http://schemas.microsoft.com/office/drawing/2014/main" id="{2BE8B55C-5DD2-58D6-605F-CCC2C7046A9E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39" name="Google Shape;2108;p37">
                <a:extLst>
                  <a:ext uri="{FF2B5EF4-FFF2-40B4-BE49-F238E27FC236}">
                    <a16:creationId xmlns:a16="http://schemas.microsoft.com/office/drawing/2014/main" id="{7CD9F6FD-AFA1-90B3-2B7B-7768A14D9962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109;p37">
                <a:extLst>
                  <a:ext uri="{FF2B5EF4-FFF2-40B4-BE49-F238E27FC236}">
                    <a16:creationId xmlns:a16="http://schemas.microsoft.com/office/drawing/2014/main" id="{5FBBEB1C-FCC4-1D6C-3DC8-82947722EEA8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2110;p37">
              <a:extLst>
                <a:ext uri="{FF2B5EF4-FFF2-40B4-BE49-F238E27FC236}">
                  <a16:creationId xmlns:a16="http://schemas.microsoft.com/office/drawing/2014/main" id="{18A0BFD7-F1AB-BEED-8339-2716CF8C3510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36" name="Google Shape;2111;p37">
                <a:extLst>
                  <a:ext uri="{FF2B5EF4-FFF2-40B4-BE49-F238E27FC236}">
                    <a16:creationId xmlns:a16="http://schemas.microsoft.com/office/drawing/2014/main" id="{B54ACBDC-FCAF-B50B-006D-2EC0BF47E665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7" name="Google Shape;2112;p37">
                <a:extLst>
                  <a:ext uri="{FF2B5EF4-FFF2-40B4-BE49-F238E27FC236}">
                    <a16:creationId xmlns:a16="http://schemas.microsoft.com/office/drawing/2014/main" id="{FB85CF0B-F0FA-4D99-4C9D-356C265BF425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38" name="Google Shape;2113;p37">
                <a:extLst>
                  <a:ext uri="{FF2B5EF4-FFF2-40B4-BE49-F238E27FC236}">
                    <a16:creationId xmlns:a16="http://schemas.microsoft.com/office/drawing/2014/main" id="{43CEC7F1-920A-AD1B-FBC0-1259A894142E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41" name="Google Shape;2147;p37">
            <a:extLst>
              <a:ext uri="{FF2B5EF4-FFF2-40B4-BE49-F238E27FC236}">
                <a16:creationId xmlns:a16="http://schemas.microsoft.com/office/drawing/2014/main" id="{B8333C41-4D09-731E-F6A3-688B36DD93F0}"/>
              </a:ext>
            </a:extLst>
          </p:cNvPr>
          <p:cNvSpPr txBox="1">
            <a:spLocks/>
          </p:cNvSpPr>
          <p:nvPr/>
        </p:nvSpPr>
        <p:spPr>
          <a:xfrm>
            <a:off x="5215195" y="292058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/>
              <a:t>07</a:t>
            </a:r>
          </a:p>
        </p:txBody>
      </p:sp>
      <p:sp>
        <p:nvSpPr>
          <p:cNvPr id="53" name="CasetăText 52">
            <a:extLst>
              <a:ext uri="{FF2B5EF4-FFF2-40B4-BE49-F238E27FC236}">
                <a16:creationId xmlns:a16="http://schemas.microsoft.com/office/drawing/2014/main" id="{8311F01B-DEC9-79A0-6850-B42A27C212E8}"/>
              </a:ext>
            </a:extLst>
          </p:cNvPr>
          <p:cNvSpPr txBox="1"/>
          <p:nvPr/>
        </p:nvSpPr>
        <p:spPr>
          <a:xfrm>
            <a:off x="5885680" y="1736536"/>
            <a:ext cx="2536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1800">
                <a:solidFill>
                  <a:schemeClr val="accent1"/>
                </a:solidFill>
                <a:latin typeface="Barlow Semi Condensed Medium"/>
                <a:sym typeface="Barlow Semi Condensed Medium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 de optimizare a profitului</a:t>
            </a:r>
            <a:endParaRPr lang="ro-RO" sz="1800">
              <a:solidFill>
                <a:schemeClr val="accent1"/>
              </a:solidFill>
            </a:endParaRPr>
          </a:p>
          <a:p>
            <a:endParaRPr lang="ro-RO" sz="1800">
              <a:solidFill>
                <a:schemeClr val="accent1"/>
              </a:solidFill>
              <a:latin typeface="Barlow Semi Condensed Medium"/>
            </a:endParaRPr>
          </a:p>
        </p:txBody>
      </p:sp>
      <p:sp>
        <p:nvSpPr>
          <p:cNvPr id="54" name="CasetăText 53">
            <a:extLst>
              <a:ext uri="{FF2B5EF4-FFF2-40B4-BE49-F238E27FC236}">
                <a16:creationId xmlns:a16="http://schemas.microsoft.com/office/drawing/2014/main" id="{9209EA32-4F51-9A07-1D87-12E98C69A5F4}"/>
              </a:ext>
            </a:extLst>
          </p:cNvPr>
          <p:cNvSpPr txBox="1"/>
          <p:nvPr/>
        </p:nvSpPr>
        <p:spPr>
          <a:xfrm>
            <a:off x="5885680" y="2912666"/>
            <a:ext cx="19980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sz="1800">
                <a:solidFill>
                  <a:schemeClr val="accent1"/>
                </a:solidFill>
                <a:latin typeface="Barlow Semi Condensed Medium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Concluzii</a:t>
            </a:r>
            <a:endParaRPr lang="en-US"/>
          </a:p>
        </p:txBody>
      </p:sp>
      <p:pic>
        <p:nvPicPr>
          <p:cNvPr id="13" name="Imagine 12">
            <a:extLst>
              <a:ext uri="{FF2B5EF4-FFF2-40B4-BE49-F238E27FC236}">
                <a16:creationId xmlns:a16="http://schemas.microsoft.com/office/drawing/2014/main" id="{385C6C3D-674C-17D4-4E37-19E146E166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5084" y="3803252"/>
            <a:ext cx="799955" cy="732553"/>
          </a:xfrm>
          <a:prstGeom prst="rect">
            <a:avLst/>
          </a:prstGeom>
        </p:spPr>
      </p:pic>
      <p:sp>
        <p:nvSpPr>
          <p:cNvPr id="14" name="CasetăText 13">
            <a:extLst>
              <a:ext uri="{FF2B5EF4-FFF2-40B4-BE49-F238E27FC236}">
                <a16:creationId xmlns:a16="http://schemas.microsoft.com/office/drawing/2014/main" id="{594F0C90-CC8D-06AB-FFBD-04FAF989A452}"/>
              </a:ext>
            </a:extLst>
          </p:cNvPr>
          <p:cNvSpPr txBox="1"/>
          <p:nvPr/>
        </p:nvSpPr>
        <p:spPr>
          <a:xfrm>
            <a:off x="5879972" y="3929604"/>
            <a:ext cx="1862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>
                <a:solidFill>
                  <a:schemeClr val="accent1"/>
                </a:solidFill>
                <a:latin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Bibliografie</a:t>
            </a:r>
            <a:endParaRPr lang="en-US" sz="1800"/>
          </a:p>
          <a:p>
            <a:endParaRPr lang="ro-RO"/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1936474" y="2280832"/>
            <a:ext cx="527105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320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Introducere în programarea liniară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3087757" y="1217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1227-52A6-8F5A-1C5C-314B8855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027F2C1-DC4E-7327-9BDC-9B95644837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22375" y="139346"/>
            <a:ext cx="655002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o-RO" altLang="ro-RO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o-RO" altLang="ro-RO" sz="1800" i="1">
                <a:solidFill>
                  <a:schemeClr val="tx1"/>
                </a:solidFill>
                <a:latin typeface="Arial"/>
              </a:rPr>
              <a:t>Istoric scurt:</a:t>
            </a:r>
            <a:r>
              <a:rPr lang="ro-RO" altLang="ro-RO" sz="1800">
                <a:solidFill>
                  <a:schemeClr val="tx1"/>
                </a:solidFill>
                <a:latin typeface="Arial"/>
              </a:rPr>
              <a:t> Programarea liniară a fost creată în timpul celui de-Al Doilea Război Mondial pentru </a:t>
            </a:r>
            <a:r>
              <a:rPr lang="ro-RO" sz="1800">
                <a:solidFill>
                  <a:srgbClr val="494949"/>
                </a:solidFill>
                <a:latin typeface="Arial"/>
                <a:cs typeface="Arial"/>
              </a:rPr>
              <a:t>optimizarea logisticii militare</a:t>
            </a:r>
            <a:r>
              <a:rPr lang="ro-RO" altLang="ro-RO" sz="1800">
                <a:solidFill>
                  <a:schemeClr val="tx1"/>
                </a:solidFill>
                <a:latin typeface="Arial"/>
              </a:rPr>
              <a:t> și perfecționată de George </a:t>
            </a:r>
            <a:r>
              <a:rPr lang="ro-RO" altLang="ro-RO" sz="1800" err="1">
                <a:solidFill>
                  <a:schemeClr val="tx1"/>
                </a:solidFill>
                <a:latin typeface="Arial"/>
              </a:rPr>
              <a:t>Dantzig</a:t>
            </a:r>
            <a:r>
              <a:rPr lang="ro-RO" altLang="ro-RO" sz="1800">
                <a:solidFill>
                  <a:schemeClr val="tx1"/>
                </a:solidFill>
                <a:latin typeface="Arial"/>
              </a:rPr>
              <a:t> în 1947 prin metoda Simplex.</a:t>
            </a:r>
            <a:endParaRPr lang="en-GB" altLang="ro-RO" sz="1800" b="1" i="1">
              <a:solidFill>
                <a:schemeClr val="tx1"/>
              </a:solidFill>
              <a:latin typeface="Arial"/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ro-RO" sz="1800" b="1" i="1">
                <a:solidFill>
                  <a:schemeClr val="tx1"/>
                </a:solidFill>
                <a:latin typeface="Arial"/>
                <a:cs typeface="Arial"/>
              </a:rPr>
              <a:t>Ce este Programarea Liniară? </a:t>
            </a:r>
            <a:endParaRPr lang="ro-RO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o metodă matematică prin care găsim cea mai bună soluție (maxim de profit sau minim de cost) dintr-o mulțime de variante posibile.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ro-RO" sz="1800">
                <a:solidFill>
                  <a:schemeClr val="tx1"/>
                </a:solidFill>
                <a:latin typeface="Arial" panose="020B0604020202020204" pitchFamily="34" charset="0"/>
              </a:rPr>
              <a:t>Se bazează în principal pe modelarea matematică a problemelor decizionale și dezvoltarea tehnicilor de rezolvare a modelului matematic propus.</a:t>
            </a:r>
            <a:endParaRPr kumimoji="0"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Componentele cheie: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Obiectivul: </a:t>
            </a:r>
            <a:r>
              <a:rPr kumimoji="0" lang="en-GB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e vrem să obținem? (ex: </a:t>
            </a:r>
            <a:r>
              <a:rPr kumimoji="0" lang="en-GB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p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rofit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 maxim) .</a:t>
            </a:r>
            <a:endParaRPr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Variabilele: </a:t>
            </a:r>
            <a:r>
              <a:rPr kumimoji="0" lang="en-GB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e controlăm? (ex: </a:t>
            </a:r>
            <a:r>
              <a:rPr kumimoji="0" lang="en-GB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âte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 telefoane producem) .</a:t>
            </a:r>
            <a:endParaRPr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Restricțiile: </a:t>
            </a:r>
            <a:r>
              <a:rPr kumimoji="0" lang="en-GB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e ne limitează? (ex: </a:t>
            </a:r>
            <a:r>
              <a:rPr lang="en-GB" altLang="ro-RO" sz="1800">
                <a:solidFill>
                  <a:schemeClr val="tx1"/>
                </a:solidFill>
                <a:latin typeface="Arial"/>
              </a:rPr>
              <a:t>t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imp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, bani, piese) .</a:t>
            </a:r>
            <a:endParaRPr lang="ro-RO" alt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ro-RO" sz="180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08887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8E51E73F-D977-CDEC-3CF9-E7DE5B8C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70BEAB19-AC56-19BB-1054-CDB9CA5739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16630" y="2287088"/>
            <a:ext cx="426992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 Simplex </a:t>
            </a:r>
            <a:r>
              <a:rPr lang="ro-RO" sz="280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Primal</a:t>
            </a:r>
            <a:r>
              <a:rPr lang="ro-RO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-scurtă introducere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sz="28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11B46FB8-7CF3-7370-36F2-30D3444084E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7757" y="1217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2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647760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u 1">
                <a:extLst>
                  <a:ext uri="{FF2B5EF4-FFF2-40B4-BE49-F238E27FC236}">
                    <a16:creationId xmlns:a16="http://schemas.microsoft.com/office/drawing/2014/main" id="{E73F3D50-CA10-CA40-8E48-26E2862D601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80118" y="0"/>
                <a:ext cx="6983763" cy="3511242"/>
              </a:xfrm>
            </p:spPr>
            <p:txBody>
              <a:bodyPr/>
              <a:lstStyle/>
              <a:p>
                <a:pPr algn="l"/>
                <a:r>
                  <a:rPr lang="ro-RO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 se aplică algoritmul simplex </a:t>
                </a:r>
                <a:r>
                  <a:rPr lang="ro-RO" sz="1800" b="1" i="1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primal</a:t>
                </a:r>
                <a:r>
                  <a:rPr lang="ro-RO" sz="18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(ASP)?</a:t>
                </a:r>
              </a:p>
              <a:p>
                <a:pPr algn="l"/>
                <a:r>
                  <a:rPr lang="ro-RO" sz="1600" i="1"/>
                  <a:t>1)Forma generală a problemei de programare liniară(PL)  se aduce la forma </a:t>
                </a:r>
                <a:r>
                  <a:rPr lang="ro-RO" sz="1600"/>
                  <a:t>standard(PLS)</a:t>
                </a:r>
              </a:p>
              <a:p>
                <a:pPr marL="171450" indent="-171450" algn="l">
                  <a:buFont typeface="Wingdings" panose="05000000000000000000" pitchFamily="2" charset="2"/>
                  <a:buChar char="Ø"/>
                </a:pPr>
                <a:r>
                  <a:rPr lang="ro-RO" sz="1600"/>
                  <a:t>Soluția problemei PLS este de </a:t>
                </a:r>
                <a:r>
                  <a:rPr lang="ro-RO" sz="1600" err="1"/>
                  <a:t>asemenea,soluția</a:t>
                </a:r>
                <a:r>
                  <a:rPr lang="ro-RO" sz="1600"/>
                  <a:t> problemei PL.</a:t>
                </a:r>
              </a:p>
              <a:p>
                <a:pPr algn="l"/>
                <a:r>
                  <a:rPr lang="ro-RO" sz="1600" i="1"/>
                  <a:t>2)Se completează Tabelul </a:t>
                </a:r>
                <a:r>
                  <a:rPr lang="ro-RO" sz="1600" i="1" err="1"/>
                  <a:t>Simplex,pentru</a:t>
                </a:r>
                <a:r>
                  <a:rPr lang="ro-RO" sz="1600" i="1"/>
                  <a:t> a obține soluția:</a:t>
                </a:r>
              </a:p>
              <a:p>
                <a:pPr algn="l"/>
                <a:r>
                  <a:rPr lang="ro-RO" sz="1600"/>
                  <a:t>Pentru fiecare iterație se completează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o-RO" sz="1600" b="0"/>
                  <a:t>}+{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ro-RO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o-RO" sz="16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ro-RO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o-RO" sz="1600" b="0">
                    <a:ea typeface="Cambria Math" panose="02040503050406030204" pitchFamily="18" charset="0"/>
                  </a:rPr>
                  <a:t>,unde: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ro-RO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ro-RO" sz="1600" b="0">
                    <a:ea typeface="Cambria Math" panose="02040503050406030204" pitchFamily="18" charset="0"/>
                  </a:rPr>
                  <a:t>-solu</a:t>
                </a:r>
                <a:r>
                  <a:rPr lang="ro-RO" sz="1600">
                    <a:ea typeface="Cambria Math" panose="02040503050406030204" pitchFamily="18" charset="0"/>
                  </a:rPr>
                  <a:t>ția de bază ce urmează să fie îmbunătățită succesiv până când se ajunge la o soluție optimă</a:t>
                </a:r>
              </a:p>
              <a:p>
                <a:pPr algn="l"/>
                <a:r>
                  <a:rPr lang="ro-RO" sz="1600" b="0">
                    <a:ea typeface="Cambria Math" panose="02040503050406030204" pitchFamily="18" charset="0"/>
                  </a:rPr>
                  <a:t>B-baza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ro-RO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o-RO" sz="1600" b="0">
                    <a:ea typeface="Cambria Math" panose="02040503050406030204" pitchFamily="18" charset="0"/>
                  </a:rPr>
                  <a:t>coeficienții bazei</a:t>
                </a:r>
              </a:p>
              <a:p>
                <a:pPr algn="l"/>
                <a:r>
                  <a:rPr lang="ro-RO" sz="1600">
                    <a:ea typeface="Cambria Math" panose="02040503050406030204" pitchFamily="18" charset="0"/>
                  </a:rPr>
                  <a:t>A-matricea formată din </a:t>
                </a:r>
                <a:r>
                  <a:rPr lang="ro-RO" sz="1600"/>
                  <a:t>coeficienții sistemului de restricții</a:t>
                </a:r>
                <a:endParaRPr lang="ro-RO" sz="1600">
                  <a:ea typeface="Cambria Math" panose="02040503050406030204" pitchFamily="18" charset="0"/>
                </a:endParaRPr>
              </a:p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ro-RO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ro-RO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o-RO" sz="1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6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s-ES" sz="1600" err="1"/>
                  <a:t>contribuția</a:t>
                </a:r>
                <a:r>
                  <a:rPr lang="es-ES" sz="1600"/>
                  <a:t> </a:t>
                </a:r>
                <a:r>
                  <a:rPr lang="es-ES" sz="1600" err="1"/>
                  <a:t>variabilelor</a:t>
                </a:r>
                <a:r>
                  <a:rPr lang="es-ES" sz="1600"/>
                  <a:t> de </a:t>
                </a:r>
                <a:r>
                  <a:rPr lang="es-ES" sz="1600" err="1"/>
                  <a:t>bază</a:t>
                </a:r>
                <a:r>
                  <a:rPr lang="es-ES" sz="1600"/>
                  <a:t> la </a:t>
                </a:r>
                <a:r>
                  <a:rPr lang="es-ES" sz="1600" err="1"/>
                  <a:t>funcția</a:t>
                </a:r>
                <a:r>
                  <a:rPr lang="es-ES" sz="1600"/>
                  <a:t> </a:t>
                </a:r>
                <a:r>
                  <a:rPr lang="es-ES" sz="1600" err="1"/>
                  <a:t>obiectiv</a:t>
                </a:r>
                <a:endParaRPr lang="ro-RO" sz="1600"/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b="0">
                    <a:ea typeface="Cambria Math" panose="02040503050406030204" pitchFamily="18" charset="0"/>
                  </a:rPr>
                  <a:t>-indicatorii de optimalitate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ro-RO" sz="1600">
                    <a:ea typeface="Cambria Math" panose="02040503050406030204" pitchFamily="18" charset="0"/>
                  </a:rPr>
                  <a:t>Ne </a:t>
                </a:r>
                <a:r>
                  <a:rPr lang="ro-RO" sz="1600" err="1">
                    <a:ea typeface="Cambria Math" panose="02040503050406030204" pitchFamily="18" charset="0"/>
                  </a:rPr>
                  <a:t>oprim,atunci</a:t>
                </a:r>
                <a:r>
                  <a:rPr lang="ro-RO" sz="1600">
                    <a:ea typeface="Cambria Math" panose="02040503050406030204" pitchFamily="18" charset="0"/>
                  </a:rPr>
                  <a:t> când se îndeplinește criteriul de stop ce depinde de optimul problemei: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ro-RO" sz="1600">
                    <a:ea typeface="Cambria Math" panose="02040503050406030204" pitchFamily="18" charset="0"/>
                  </a:rPr>
                  <a:t>dacă opt=</a:t>
                </a:r>
                <a:r>
                  <a:rPr lang="ro-RO" sz="1600" err="1">
                    <a:ea typeface="Cambria Math" panose="02040503050406030204" pitchFamily="18" charset="0"/>
                  </a:rPr>
                  <a:t>MAX,verific</a:t>
                </a:r>
                <a:r>
                  <a:rPr lang="ro-RO" sz="1600">
                    <a:ea typeface="Cambria Math" panose="02040503050406030204" pitchFamily="18" charset="0"/>
                  </a:rPr>
                  <a:t> dacă toate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ro-RO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ro-RO" sz="1600">
                    <a:ea typeface="Cambria Math" panose="02040503050406030204" pitchFamily="18" charset="0"/>
                  </a:rPr>
                  <a:t>,j=1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ro-RO" sz="1600">
                  <a:ea typeface="Cambria Math" panose="020405030504060302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ro-RO" sz="1600">
                    <a:ea typeface="Cambria Math" panose="02040503050406030204" pitchFamily="18" charset="0"/>
                  </a:rPr>
                  <a:t>dacă opt=</a:t>
                </a:r>
                <a:r>
                  <a:rPr lang="ro-RO" sz="1600" err="1">
                    <a:ea typeface="Cambria Math" panose="02040503050406030204" pitchFamily="18" charset="0"/>
                  </a:rPr>
                  <a:t>MIN,verific</a:t>
                </a:r>
                <a:r>
                  <a:rPr lang="ro-RO" sz="1600">
                    <a:ea typeface="Cambria Math" panose="02040503050406030204" pitchFamily="18" charset="0"/>
                  </a:rPr>
                  <a:t> dacă toate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ro-RO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o-RO" sz="1600">
                    <a:ea typeface="Cambria Math" panose="02040503050406030204" pitchFamily="18" charset="0"/>
                  </a:rPr>
                  <a:t>, j=1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ro-RO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endParaRPr lang="ro-RO" sz="1600">
                  <a:ea typeface="Cambria Math" panose="02040503050406030204" pitchFamily="18" charset="0"/>
                </a:endParaRPr>
              </a:p>
              <a:p>
                <a:pPr algn="l"/>
                <a:r>
                  <a:rPr lang="ro-RO" sz="1600">
                    <a:ea typeface="Cambria Math" panose="02040503050406030204" pitchFamily="18" charset="0"/>
                  </a:rPr>
                  <a:t>Dacă se îndeplinește condiția corespunzătoare </a:t>
                </a:r>
                <a:r>
                  <a:rPr lang="ro-RO" sz="1600" err="1">
                    <a:ea typeface="Cambria Math" panose="02040503050406030204" pitchFamily="18" charset="0"/>
                  </a:rPr>
                  <a:t>optimului,ne</a:t>
                </a:r>
                <a:r>
                  <a:rPr lang="ro-RO" sz="1600">
                    <a:ea typeface="Cambria Math" panose="02040503050406030204" pitchFamily="18" charset="0"/>
                  </a:rPr>
                  <a:t> putem opri și extragem soluția de la iterația curentă.</a:t>
                </a:r>
              </a:p>
              <a:p>
                <a:pPr algn="l"/>
                <a:endParaRPr lang="ro-RO" sz="1600" b="0">
                  <a:ea typeface="Cambria Math" panose="02040503050406030204" pitchFamily="18" charset="0"/>
                </a:endParaRPr>
              </a:p>
              <a:p>
                <a:pPr algn="l"/>
                <a:endParaRPr lang="ro-RO" sz="1600">
                  <a:ea typeface="Cambria Math" panose="02040503050406030204" pitchFamily="18" charset="0"/>
                </a:endParaRPr>
              </a:p>
              <a:p>
                <a:pPr algn="l"/>
                <a:endParaRPr lang="ro-RO" sz="1200" b="0">
                  <a:ea typeface="Cambria Math" panose="020405030504060302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endParaRPr lang="ro-RO" sz="1200">
                  <a:ea typeface="Cambria Math" panose="02040503050406030204" pitchFamily="18" charset="0"/>
                </a:endParaRP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r>
                  <a:rPr lang="ro-RO"/>
                  <a:t>​ </a:t>
                </a: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endParaRPr lang="ro-RO" b="0">
                  <a:ea typeface="Cambria Math" panose="02040503050406030204" pitchFamily="18" charset="0"/>
                </a:endParaRPr>
              </a:p>
              <a:p>
                <a:pPr algn="l"/>
                <a:endParaRPr lang="ro-RO" b="0"/>
              </a:p>
              <a:p>
                <a:pPr algn="l"/>
                <a:endParaRPr lang="ro-RO"/>
              </a:p>
            </p:txBody>
          </p:sp>
        </mc:Choice>
        <mc:Fallback xmlns="">
          <p:sp>
            <p:nvSpPr>
              <p:cNvPr id="2" name="Subtitlu 1">
                <a:extLst>
                  <a:ext uri="{FF2B5EF4-FFF2-40B4-BE49-F238E27FC236}">
                    <a16:creationId xmlns:a16="http://schemas.microsoft.com/office/drawing/2014/main" id="{E73F3D50-CA10-CA40-8E48-26E2862D6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80118" y="0"/>
                <a:ext cx="6983763" cy="3511242"/>
              </a:xfrm>
              <a:blipFill>
                <a:blip r:embed="rId3"/>
                <a:stretch>
                  <a:fillRect l="-698" b="-83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748485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950394BE-D845-EC47-D0B0-81055AF4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76234E27-98AB-8802-50EC-DA6B6B810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9115" y="2164654"/>
            <a:ext cx="457862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2800">
                <a:solidFill>
                  <a:srgbClr val="002060"/>
                </a:solidFill>
                <a:latin typeface="Times New Roman"/>
                <a:cs typeface="Times New Roman"/>
              </a:rPr>
              <a:t>Modelul matematic 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F28FC487-BDF4-763A-AE47-445DE512CB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7757" y="1217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03</a:t>
            </a:r>
            <a:endParaRPr lang="ro-RO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87431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1237229" y="37800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o-RO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 generală(FG)</a:t>
            </a:r>
            <a:endParaRPr lang="e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BFB2B1-E6F5-EC98-FB57-A8E18A2F1B99}"/>
                  </a:ext>
                </a:extLst>
              </p:cNvPr>
              <p:cNvSpPr txBox="1"/>
              <p:nvPr/>
            </p:nvSpPr>
            <p:spPr>
              <a:xfrm>
                <a:off x="1241649" y="1411887"/>
                <a:ext cx="4572000" cy="366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spcAft>
                    <a:spcPts val="1000"/>
                  </a:spcAft>
                  <a:buFont typeface="+mj-lt"/>
                  <a:buAutoNum type="arabicParenR"/>
                </a:pPr>
                <a:r>
                  <a:rPr lang="ro-RO" sz="1600" kern="1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400" kern="1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opt f(x)=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sub>
                        </m:sSub>
                      </m:e>
                    </m:nary>
                  </m:oMath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BFB2B1-E6F5-EC98-FB57-A8E18A2F1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649" y="1411887"/>
                <a:ext cx="4572000" cy="366254"/>
              </a:xfrm>
              <a:prstGeom prst="rect">
                <a:avLst/>
              </a:prstGeom>
              <a:blipFill>
                <a:blip r:embed="rId3"/>
                <a:stretch>
                  <a:fillRect l="-667" t="-75000" b="-1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4C65CA-25D7-E562-3C11-11D7ACBDCF8A}"/>
                  </a:ext>
                </a:extLst>
              </p:cNvPr>
              <p:cNvSpPr txBox="1"/>
              <p:nvPr/>
            </p:nvSpPr>
            <p:spPr>
              <a:xfrm>
                <a:off x="1237228" y="1822864"/>
                <a:ext cx="6077971" cy="1535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spcAft>
                    <a:spcPts val="1000"/>
                  </a:spcAft>
                  <a:buFont typeface="+mj-lt"/>
                  <a:buAutoNum type="arabicParenR" startAt="2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o-RO" sz="14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  <m:e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m</m:t>
                                </m:r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m</m:t>
                                </m:r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mn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ro-RO" sz="1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o-RO" sz="1400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n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</m:e>
                          </m:mr>
                          <m:m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e>
                          </m:mr>
                          <m:m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≥</m:t>
                              </m:r>
                            </m:e>
                          </m:mr>
                        </m:m>
                      </m:e>
                    </m:d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ro-RO" sz="1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o-RO" sz="1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mr>
                    </m:m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𝑠𝑎𝑢</m:t>
                    </m:r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ij</m:t>
                            </m:r>
                          </m:sub>
                        </m:sSub>
                        <m:sSub>
                          <m:sSubPr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ro-RO" sz="1400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o-RO" sz="1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o-RO" sz="14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</m:e>
                          </m:mr>
                          <m:mr>
                            <m:e>
                              <m:r>
                                <a:rPr lang="ro-RO" sz="14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e>
                          </m:mr>
                          <m:mr>
                            <m:e>
                              <m:r>
                                <a:rPr lang="ro-RO" sz="14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</m:e>
                          </m:mr>
                        </m:m>
                      </m:e>
                    </m:d>
                    <m:sSub>
                      <m:sSub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ro-RO" sz="14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ro-RO" sz="14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ro-RO" sz="14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m:rPr>
                            <m:sty m:val="p"/>
                          </m:rPr>
                          <a:rPr lang="ro-RO" sz="1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acc>
                  </m:oMath>
                </a14:m>
                <a:endParaRPr lang="ro-RO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  <a:buNone/>
                </a:pPr>
                <a:r>
                  <a:rPr lang="ro-RO" sz="1200" b="1" kern="10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o-RO" sz="11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4C65CA-25D7-E562-3C11-11D7ACBDC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228" y="1822864"/>
                <a:ext cx="6077971" cy="1535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C27FA2-18F3-AB63-55C1-173E9B7803EC}"/>
                  </a:ext>
                </a:extLst>
              </p:cNvPr>
              <p:cNvSpPr txBox="1"/>
              <p:nvPr/>
            </p:nvSpPr>
            <p:spPr>
              <a:xfrm>
                <a:off x="1241649" y="3184417"/>
                <a:ext cx="4572000" cy="7801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arenR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ro-RO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ro-RO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i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d>
                      <m:dPr>
                        <m:begChr m:val="{"/>
                        <m:endChr m:val=""/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i="0">
                                <a:latin typeface="Cambria Math" panose="02040503050406030204" pitchFamily="18" charset="0"/>
                              </a:rPr>
                              <m:t>&amp;≥0</m:t>
                            </m:r>
                          </m:e>
                          <m:e>
                            <m:r>
                              <a:rPr lang="ro-RO" i="0">
                                <a:latin typeface="Cambria Math" panose="02040503050406030204" pitchFamily="18" charset="0"/>
                              </a:rPr>
                              <m:t>&amp;≤0</m:t>
                            </m:r>
                          </m:e>
                          <m:e>
                            <m:r>
                              <a:rPr lang="ro-RO" i="0">
                                <a:latin typeface="Cambria Math" panose="02040503050406030204" pitchFamily="18" charset="0"/>
                              </a:rPr>
                              <m:t>&amp;∈</m:t>
                            </m:r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eqArr>
                      </m:e>
                    </m:d>
                  </m:oMath>
                </a14:m>
                <a:endParaRPr lang="ro-RO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C27FA2-18F3-AB63-55C1-173E9B780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649" y="3184417"/>
                <a:ext cx="4572000" cy="780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tăText 2">
            <a:extLst>
              <a:ext uri="{FF2B5EF4-FFF2-40B4-BE49-F238E27FC236}">
                <a16:creationId xmlns:a16="http://schemas.microsoft.com/office/drawing/2014/main" id="{6DEE8BC4-BC4F-C864-FBF5-43C091AD901B}"/>
              </a:ext>
            </a:extLst>
          </p:cNvPr>
          <p:cNvSpPr txBox="1"/>
          <p:nvPr/>
        </p:nvSpPr>
        <p:spPr>
          <a:xfrm>
            <a:off x="2286000" y="2571750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/>
            <a:endParaRPr lang="en-US"/>
          </a:p>
          <a:p>
            <a:pPr algn="ctr"/>
            <a:endParaRPr lang="ro-RO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A35CF744-2FA6-5E49-9799-757186F3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234B05A0-7D86-9AED-D77D-02B76DAA9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7730" y="2261507"/>
            <a:ext cx="457862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Aducerea</a:t>
            </a:r>
            <a:r>
              <a:rPr lang="en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problemei</a:t>
            </a:r>
            <a:r>
              <a:rPr lang="ro-RO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programare liniară</a:t>
            </a:r>
            <a:r>
              <a:rPr lang="en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forma standard (PLS)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61D11116-688A-45A8-70BD-BDB92D2535A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29765" y="939702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4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23571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84" name="Google Shape;218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5" name="Google Shape;218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6" name="Google Shape;218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87" name="Google Shape;2187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88" name="Google Shape;2188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9" name="Google Shape;2189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0" name="Google Shape;2190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1" name="Google Shape;2191;p40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92" name="Google Shape;2192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4" name="Google Shape;2194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586FF-B5A5-5AC7-3794-FB486DF1B070}"/>
                  </a:ext>
                </a:extLst>
              </p:cNvPr>
              <p:cNvSpPr txBox="1"/>
              <p:nvPr/>
            </p:nvSpPr>
            <p:spPr>
              <a:xfrm>
                <a:off x="878345" y="988828"/>
                <a:ext cx="4742480" cy="1773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spcAft>
                    <a:spcPts val="1000"/>
                  </a:spcAft>
                  <a:buFont typeface="+mj-lt"/>
                  <a:buAutoNum type="arabicParenR"/>
                </a:pPr>
                <a:r>
                  <a:rPr lang="ro-RO" sz="1400" kern="10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opt f(x)=cx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1000"/>
                  </a:spcAft>
                  <a:buFont typeface="+mj-lt"/>
                  <a:buAutoNum type="arabicParenR"/>
                </a:pPr>
                <a:r>
                  <a:rPr lang="ro-RO" sz="1400" kern="10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400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eqArr>
                              <m:eqArrPr>
                                <m:ctrlPr>
                                  <a:rPr lang="ro-RO" sz="1400" i="1" kern="10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ro-RO" sz="1400" i="1" kern="10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</m:e>
                              <m:e>
                                <m:r>
                                  <a:rPr lang="ro-RO" sz="1400" i="1" kern="100">
                                    <a:solidFill>
                                      <a:srgbClr val="0070C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e>
                            </m:eqArr>
                          </m:num>
                          <m:den>
                            <m: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≥</m:t>
                            </m:r>
                          </m:den>
                        </m:f>
                      </m:e>
                    </m:d>
                    <m:r>
                      <a:rPr lang="ro-RO" sz="1400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1000"/>
                  </a:spcAft>
                  <a:buFont typeface="+mj-lt"/>
                  <a:buAutoNum type="arabicParenR"/>
                </a:pPr>
                <a:r>
                  <a:rPr lang="ro-RO" sz="1400" kern="10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o-RO" sz="1400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≤0</m:t>
                            </m:r>
                          </m:e>
                          <m:e>
                            <m: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ro-RO" sz="1400" i="1" kern="100">
                                <a:solidFill>
                                  <a:srgbClr val="0070C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</m:eqArr>
                      </m:e>
                    </m:d>
                  </m:oMath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B586FF-B5A5-5AC7-3794-FB486DF1B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45" y="988828"/>
                <a:ext cx="4742480" cy="1773371"/>
              </a:xfrm>
              <a:prstGeom prst="rect">
                <a:avLst/>
              </a:prstGeom>
              <a:blipFill>
                <a:blip r:embed="rId3"/>
                <a:stretch>
                  <a:fillRect l="-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ACDE9E3-213A-3C54-7D32-068D03A54A4C}"/>
              </a:ext>
            </a:extLst>
          </p:cNvPr>
          <p:cNvSpPr txBox="1"/>
          <p:nvPr/>
        </p:nvSpPr>
        <p:spPr>
          <a:xfrm>
            <a:off x="4484494" y="988828"/>
            <a:ext cx="4572000" cy="10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400" kern="1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opt f(x) = cx</a:t>
            </a:r>
            <a:endParaRPr lang="ro-RO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400" kern="1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Ax=b</a:t>
            </a:r>
            <a:endParaRPr lang="ro-RO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o-RO" sz="1400" kern="1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 x ≥ 0</a:t>
            </a:r>
            <a:endParaRPr lang="ro-RO" sz="1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B698ED9B-E743-EF1A-AD29-E795D3C33A3E}"/>
              </a:ext>
            </a:extLst>
          </p:cNvPr>
          <p:cNvSpPr txBox="1"/>
          <p:nvPr/>
        </p:nvSpPr>
        <p:spPr>
          <a:xfrm>
            <a:off x="1041400" y="397073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 matriceală(FM)</a:t>
            </a:r>
          </a:p>
        </p:txBody>
      </p:sp>
      <p:sp>
        <p:nvSpPr>
          <p:cNvPr id="20" name="CasetăText 19">
            <a:extLst>
              <a:ext uri="{FF2B5EF4-FFF2-40B4-BE49-F238E27FC236}">
                <a16:creationId xmlns:a16="http://schemas.microsoft.com/office/drawing/2014/main" id="{376B4175-DC7D-4111-51BE-1C5CCF34A36D}"/>
              </a:ext>
            </a:extLst>
          </p:cNvPr>
          <p:cNvSpPr txBox="1"/>
          <p:nvPr/>
        </p:nvSpPr>
        <p:spPr>
          <a:xfrm>
            <a:off x="4344475" y="397073"/>
            <a:ext cx="255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 standard(PLS)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BFA08EE1-89B8-32C1-B3DA-8DFD9B42CA05}"/>
                  </a:ext>
                </a:extLst>
              </p:cNvPr>
              <p:cNvSpPr txBox="1"/>
              <p:nvPr/>
            </p:nvSpPr>
            <p:spPr>
              <a:xfrm>
                <a:off x="2419350" y="1517650"/>
                <a:ext cx="197485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ro-RO" sz="4000"/>
              </a:p>
            </p:txBody>
          </p:sp>
        </mc:Choice>
        <mc:Fallback xmlns="">
          <p:sp>
            <p:nvSpPr>
              <p:cNvPr id="23" name="CasetăText 22">
                <a:extLst>
                  <a:ext uri="{FF2B5EF4-FFF2-40B4-BE49-F238E27FC236}">
                    <a16:creationId xmlns:a16="http://schemas.microsoft.com/office/drawing/2014/main" id="{BFA08EE1-89B8-32C1-B3DA-8DFD9B42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350" y="1517650"/>
                <a:ext cx="1974850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asetăText 24">
            <a:extLst>
              <a:ext uri="{FF2B5EF4-FFF2-40B4-BE49-F238E27FC236}">
                <a16:creationId xmlns:a16="http://schemas.microsoft.com/office/drawing/2014/main" id="{B5AD38C8-6B22-3FF9-3775-FBE127F163B3}"/>
              </a:ext>
            </a:extLst>
          </p:cNvPr>
          <p:cNvSpPr txBox="1"/>
          <p:nvPr/>
        </p:nvSpPr>
        <p:spPr>
          <a:xfrm>
            <a:off x="3154335" y="1567736"/>
            <a:ext cx="63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R1</a:t>
            </a: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4FA398C4-D652-55EF-E05A-6467DBD41326}"/>
              </a:ext>
            </a:extLst>
          </p:cNvPr>
          <p:cNvSpPr txBox="1"/>
          <p:nvPr/>
        </p:nvSpPr>
        <p:spPr>
          <a:xfrm>
            <a:off x="3168650" y="1875513"/>
            <a:ext cx="768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/>
              <a:t>R2</a:t>
            </a:r>
          </a:p>
        </p:txBody>
      </p:sp>
      <p:sp>
        <p:nvSpPr>
          <p:cNvPr id="31" name="CasetăText 30">
            <a:extLst>
              <a:ext uri="{FF2B5EF4-FFF2-40B4-BE49-F238E27FC236}">
                <a16:creationId xmlns:a16="http://schemas.microsoft.com/office/drawing/2014/main" id="{1E796FE7-916C-DB85-54F1-D871C0180073}"/>
              </a:ext>
            </a:extLst>
          </p:cNvPr>
          <p:cNvSpPr txBox="1"/>
          <p:nvPr/>
        </p:nvSpPr>
        <p:spPr>
          <a:xfrm>
            <a:off x="1041400" y="2997200"/>
            <a:ext cx="6489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/>
              <a:t>Regula1(R1)</a:t>
            </a:r>
            <a:endParaRPr lang="ro-RO"/>
          </a:p>
          <a:p>
            <a:r>
              <a:rPr lang="ro-RO"/>
              <a:t>Se aplică condițiilor 3) din PL și are scopul de a aduce toate variabilele la forma x≥0,adică variabile nenegative.</a:t>
            </a:r>
          </a:p>
          <a:p>
            <a:r>
              <a:rPr lang="ro-RO" b="1"/>
              <a:t>Regula 2(R1)</a:t>
            </a:r>
            <a:endParaRPr lang="ro-RO"/>
          </a:p>
          <a:p>
            <a:r>
              <a:rPr lang="ro-RO"/>
              <a:t>Se aplică condiției 2) din PL și are scopul de a transforma semnul                                         tuturor restricțiilor în “=”.</a:t>
            </a:r>
          </a:p>
          <a:p>
            <a:endParaRPr lang="ro-RO"/>
          </a:p>
          <a:p>
            <a:endParaRPr lang="ro-RO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/>
          <p:cNvSpPr txBox="1">
            <a:spLocks noGrp="1"/>
          </p:cNvSpPr>
          <p:nvPr>
            <p:ph type="title"/>
          </p:nvPr>
        </p:nvSpPr>
        <p:spPr>
          <a:xfrm>
            <a:off x="1276350" y="259472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br>
              <a:rPr lang="ro-RO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F23257-E05F-1125-0B17-F4B4897B0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225" y="1209668"/>
            <a:ext cx="6515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Dacă x ≤0,spunem că x este variabilă </a:t>
            </a:r>
            <a:r>
              <a:rPr kumimoji="0" lang="ro-RO" altLang="ro-RO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nepozitivă,ceea</a:t>
            </a:r>
            <a:r>
              <a:rPr kumimoji="0" lang="ro-RO" altLang="ro-RO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 nu </a:t>
            </a:r>
            <a:r>
              <a:rPr kumimoji="0" lang="ro-RO" altLang="ro-RO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convine,deci</a:t>
            </a:r>
            <a:r>
              <a:rPr kumimoji="0" lang="ro-RO" altLang="ro-RO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va face următoarea transformare:</a:t>
            </a:r>
            <a:endParaRPr kumimoji="0" lang="ro-RO" altLang="ro-RO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                                                         </a:t>
            </a:r>
            <a:endParaRPr kumimoji="0" lang="ro-RO" altLang="ro-RO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9C42E6D-46B6-6002-DFD6-AFADCDB22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1937505"/>
            <a:ext cx="42735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7">
                <a:extLst>
                  <a:ext uri="{FF2B5EF4-FFF2-40B4-BE49-F238E27FC236}">
                    <a16:creationId xmlns:a16="http://schemas.microsoft.com/office/drawing/2014/main" id="{2D1D47ED-6F04-0C75-A95B-D29079F53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5225" y="2861764"/>
                <a:ext cx="6515100" cy="7694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ro-RO" altLang="ro-RO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x</a:t>
                </a:r>
                <a:r>
                  <a:rPr kumimoji="0" lang="ro-RO" altLang="ro-RO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altLang="ro-RO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kumimoji="0" lang="ro-RO" altLang="ro-RO" sz="16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ℝ</m:t>
                    </m:r>
                  </m:oMath>
                </a14:m>
                <a:r>
                  <a:rPr kumimoji="0" lang="ro-RO" altLang="ro-RO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,spunem că x este variabilă </a:t>
                </a:r>
                <a:r>
                  <a:rPr kumimoji="0" lang="ro-RO" altLang="ro-RO" sz="16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liberă,ceea</a:t>
                </a:r>
                <a:r>
                  <a:rPr kumimoji="0" lang="ro-RO" altLang="ro-RO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ce nu </a:t>
                </a:r>
                <a:r>
                  <a:rPr kumimoji="0" lang="ro-RO" altLang="ro-RO" sz="16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convine,deci</a:t>
                </a:r>
                <a:r>
                  <a:rPr kumimoji="0" lang="ro-RO" altLang="ro-RO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 va face următoarea transformare: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ro-RO" altLang="ro-RO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7">
                <a:extLst>
                  <a:ext uri="{FF2B5EF4-FFF2-40B4-BE49-F238E27FC236}">
                    <a16:creationId xmlns:a16="http://schemas.microsoft.com/office/drawing/2014/main" id="{2D1D47ED-6F04-0C75-A95B-D29079F53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5225" y="2861764"/>
                <a:ext cx="6515100" cy="769441"/>
              </a:xfrm>
              <a:prstGeom prst="rect">
                <a:avLst/>
              </a:prstGeom>
              <a:blipFill>
                <a:blip r:embed="rId4"/>
                <a:stretch>
                  <a:fillRect l="-468" t="-2362" r="-5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8" name="Picture 10">
            <a:extLst>
              <a:ext uri="{FF2B5EF4-FFF2-40B4-BE49-F238E27FC236}">
                <a16:creationId xmlns:a16="http://schemas.microsoft.com/office/drawing/2014/main" id="{237C6924-0180-3FB5-31C4-0914DE95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210" y="3637467"/>
            <a:ext cx="47053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7" name="Google Shape;2317;p43"/>
          <p:cNvSpPr txBox="1"/>
          <p:nvPr/>
        </p:nvSpPr>
        <p:spPr>
          <a:xfrm>
            <a:off x="6372177" y="136245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$20K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03950D-DEC1-40E9-2037-2BD2BEC6B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39" y="702421"/>
            <a:ext cx="68831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o-RO" altLang="ro-RO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Pentru inegalități de tipul  ≤,se adaugă o variabilă de compensare y(dar doar în partea stângă a inecuației din </a:t>
            </a:r>
            <a:r>
              <a:rPr kumimoji="0" lang="ro-RO" altLang="ro-RO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sitemul</a:t>
            </a:r>
            <a:r>
              <a:rPr kumimoji="0" lang="ro-RO" altLang="ro-RO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restricții) și vom obține: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DE86D63D-13E9-FFEA-F872-C891FCAA3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1477547"/>
            <a:ext cx="4959350" cy="50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u 5">
            <a:extLst>
              <a:ext uri="{FF2B5EF4-FFF2-40B4-BE49-F238E27FC236}">
                <a16:creationId xmlns:a16="http://schemas.microsoft.com/office/drawing/2014/main" id="{DB50115D-C939-F2FA-F6B1-D6CED78A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525" y="88704"/>
            <a:ext cx="5496900" cy="572700"/>
          </a:xfrm>
        </p:spPr>
        <p:txBody>
          <a:bodyPr/>
          <a:lstStyle/>
          <a:p>
            <a:pPr algn="l"/>
            <a:r>
              <a:rPr lang="ro-RO"/>
              <a:t>R2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031B1DD4-DA34-4298-56A6-8C4CAC32C58D}"/>
                  </a:ext>
                </a:extLst>
              </p:cNvPr>
              <p:cNvSpPr txBox="1"/>
              <p:nvPr/>
            </p:nvSpPr>
            <p:spPr>
              <a:xfrm>
                <a:off x="1080525" y="1194863"/>
                <a:ext cx="14795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o-RO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ro-RO" sz="12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𝑑𝑒𝑣𝑖𝑛𝑒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"=</m:t>
                      </m:r>
                      <m:r>
                        <a:rPr lang="ro-RO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ro-RO" sz="1200"/>
              </a:p>
            </p:txBody>
          </p:sp>
        </mc:Choice>
        <mc:Fallback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031B1DD4-DA34-4298-56A6-8C4CAC32C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525" y="1194863"/>
                <a:ext cx="147955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863D5F68-DB95-B67D-31F5-5A8210EA342D}"/>
                  </a:ext>
                </a:extLst>
              </p:cNvPr>
              <p:cNvSpPr txBox="1"/>
              <p:nvPr/>
            </p:nvSpPr>
            <p:spPr>
              <a:xfrm>
                <a:off x="938239" y="2098001"/>
                <a:ext cx="7023100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ro-RO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inegalități de tipul ≥, se scade o variabilă de compensare y și se adaugă o variabilă de penalizare z (dar doar în partea stângă a inecuației din </a:t>
                </a:r>
                <a:r>
                  <a:rPr lang="ro-RO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sitemul</a:t>
                </a:r>
                <a:r>
                  <a:rPr lang="ro-RO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restricții) și vom obține: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o-RO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m:rPr>
                          <m:nor/>
                        </m:rPr>
                        <a:rPr lang="ro-RO" sz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ro-RO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𝑑𝑒𝑣𝑖𝑛𝑒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"="</m:t>
                      </m:r>
                    </m:oMath>
                  </m:oMathPara>
                </a14:m>
                <a:endParaRPr lang="ro-RO" sz="1200"/>
              </a:p>
              <a:p>
                <a:endParaRPr lang="ro-RO" sz="1200"/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endParaRPr lang="ro-RO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o-RO"/>
              </a:p>
            </p:txBody>
          </p:sp>
        </mc:Choice>
        <mc:Fallback>
          <p:sp>
            <p:nvSpPr>
              <p:cNvPr id="10" name="CasetăText 9">
                <a:extLst>
                  <a:ext uri="{FF2B5EF4-FFF2-40B4-BE49-F238E27FC236}">
                    <a16:creationId xmlns:a16="http://schemas.microsoft.com/office/drawing/2014/main" id="{863D5F68-DB95-B67D-31F5-5A8210EA3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39" y="2098001"/>
                <a:ext cx="7023100" cy="1292662"/>
              </a:xfrm>
              <a:prstGeom prst="rect">
                <a:avLst/>
              </a:prstGeom>
              <a:blipFill>
                <a:blip r:embed="rId5"/>
                <a:stretch>
                  <a:fillRect l="-174" t="-94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A75973BC-8C66-EB7D-654A-B4BF26699CCB}"/>
                  </a:ext>
                </a:extLst>
              </p:cNvPr>
              <p:cNvSpPr txBox="1"/>
              <p:nvPr/>
            </p:nvSpPr>
            <p:spPr>
              <a:xfrm>
                <a:off x="938239" y="3437158"/>
                <a:ext cx="6653008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ro-RO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“=”,se adaugă o variabilă de penalizare z (dar doar în partea stângă a </a:t>
                </a:r>
                <a:r>
                  <a:rPr lang="ro-RO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ecua</a:t>
                </a:r>
                <a:r>
                  <a:rPr lang="ro-RO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din </a:t>
                </a:r>
                <a:r>
                  <a:rPr lang="ro-RO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sitemul</a:t>
                </a:r>
                <a:r>
                  <a:rPr lang="ro-RO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restricții) și vom obține: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o-RO" sz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o-RO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ro-RO" sz="1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a:rPr lang="ro-RO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 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𝑑𝑒𝑣𝑖𝑛𝑒</m:t>
                      </m:r>
                      <m:r>
                        <a:rPr lang="ro-RO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"=„</m:t>
                      </m:r>
                    </m:oMath>
                  </m:oMathPara>
                </a14:m>
                <a:endParaRPr lang="ro-RO" sz="1200"/>
              </a:p>
              <a:p>
                <a:endParaRPr lang="ro-RO" sz="1200"/>
              </a:p>
            </p:txBody>
          </p:sp>
        </mc:Choice>
        <mc:Fallback>
          <p:sp>
            <p:nvSpPr>
              <p:cNvPr id="11" name="CasetăText 10">
                <a:extLst>
                  <a:ext uri="{FF2B5EF4-FFF2-40B4-BE49-F238E27FC236}">
                    <a16:creationId xmlns:a16="http://schemas.microsoft.com/office/drawing/2014/main" id="{A75973BC-8C66-EB7D-654A-B4BF26699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39" y="3437158"/>
                <a:ext cx="6653008" cy="892552"/>
              </a:xfrm>
              <a:prstGeom prst="rect">
                <a:avLst/>
              </a:prstGeom>
              <a:blipFill>
                <a:blip r:embed="rId6"/>
                <a:stretch>
                  <a:fillRect l="-183" t="-137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ine 1" descr="O imagine care conține text, Font, alb, linie&#10;&#10;Conținutul generat de inteligența artificială poate fi incorect.">
            <a:extLst>
              <a:ext uri="{FF2B5EF4-FFF2-40B4-BE49-F238E27FC236}">
                <a16:creationId xmlns:a16="http://schemas.microsoft.com/office/drawing/2014/main" id="{DB1C144D-7BE2-4D28-50E8-E4A48AEDB4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892" y="2934113"/>
            <a:ext cx="4041500" cy="409989"/>
          </a:xfrm>
          <a:prstGeom prst="rect">
            <a:avLst/>
          </a:prstGeom>
        </p:spPr>
      </p:pic>
      <p:pic>
        <p:nvPicPr>
          <p:cNvPr id="3" name="Imagine 2" descr="O imagine care conține text, Font, alb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5D45241D-CD2C-2AFC-5AA8-EEDF9EBC847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24" r="-111" b="1515"/>
          <a:stretch>
            <a:fillRect/>
          </a:stretch>
        </p:blipFill>
        <p:spPr>
          <a:xfrm>
            <a:off x="1224460" y="4185616"/>
            <a:ext cx="4038779" cy="53429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6DE14CD1-864A-08D8-EF12-652301AA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8A6BCFDB-F24A-7CF2-E43D-6947AEBC1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7730" y="2261507"/>
            <a:ext cx="457862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4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</a:t>
            </a:r>
            <a:endParaRPr lang="en" sz="40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6EC08BA4-BE9C-5CB6-EB9E-390F70F494E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29765" y="939702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5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309776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u 2">
            <a:extLst>
              <a:ext uri="{FF2B5EF4-FFF2-40B4-BE49-F238E27FC236}">
                <a16:creationId xmlns:a16="http://schemas.microsoft.com/office/drawing/2014/main" id="{A6803A6A-B858-1F79-2169-0F5C1828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364552"/>
            <a:ext cx="4809600" cy="576000"/>
          </a:xfrm>
        </p:spPr>
        <p:txBody>
          <a:bodyPr/>
          <a:lstStyle/>
          <a:p>
            <a:r>
              <a:rPr lang="ro-RO"/>
              <a:t>Pseudocod simplex primal</a:t>
            </a:r>
          </a:p>
        </p:txBody>
      </p:sp>
      <p:pic>
        <p:nvPicPr>
          <p:cNvPr id="5" name="Imagine 4" descr="O imagine care conține text, captură de ecran, afișaj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DB54E340-DBC9-D3CE-852E-2B3ADA84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168" y="646981"/>
            <a:ext cx="4954433" cy="43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5918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DD35884F-84B1-4FDB-C817-8CF41C8C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203" y="0"/>
            <a:ext cx="65915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6911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53A3DF65-BD53-3AB6-3780-95EB5E44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3E17CAAA-C159-F913-50BE-C2BD7824FE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8703" y="2579914"/>
            <a:ext cx="5726594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arlow Semi Condensed Medium"/>
              </a:rPr>
              <a:t>Model de optimizare a profitului</a:t>
            </a:r>
            <a:br>
              <a:rPr lang="ro-RO">
                <a:solidFill>
                  <a:schemeClr val="accent1"/>
                </a:solidFill>
              </a:rPr>
            </a:br>
            <a:endParaRPr lang="ro-RO"/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4ACE79C2-F5AC-F733-53EA-67C25997A2A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6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292978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46"/>
          <p:cNvGrpSpPr/>
          <p:nvPr/>
        </p:nvGrpSpPr>
        <p:grpSpPr>
          <a:xfrm>
            <a:off x="793831" y="1776568"/>
            <a:ext cx="4188013" cy="2427688"/>
            <a:chOff x="1397225" y="1410350"/>
            <a:chExt cx="4786300" cy="2774500"/>
          </a:xfrm>
        </p:grpSpPr>
        <p:grpSp>
          <p:nvGrpSpPr>
            <p:cNvPr id="2344" name="Google Shape;2344;p46"/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</p:grpSpPr>
          <p:sp>
            <p:nvSpPr>
              <p:cNvPr id="2345" name="Google Shape;2345;p46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46" name="Google Shape;2346;p46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7" name="Google Shape;2347;p46"/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</p:grpSpPr>
          <p:sp>
            <p:nvSpPr>
              <p:cNvPr id="2348" name="Google Shape;2348;p46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grpSp>
            <p:nvGrpSpPr>
              <p:cNvPr id="2349" name="Google Shape;2349;p46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350" name="Google Shape;2350;p46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/>
                <a:lstStyle/>
                <a:p>
                  <a:endParaRPr lang="ro-RO"/>
                </a:p>
              </p:txBody>
            </p:sp>
            <p:sp>
              <p:nvSpPr>
                <p:cNvPr id="2351" name="Google Shape;2351;p46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2352;p46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3" name="Google Shape;2353;p46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4" name="Google Shape;2354;p46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5" name="Google Shape;2355;p46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56" name="Google Shape;2356;p46"/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</p:grpSpPr>
          <p:sp>
            <p:nvSpPr>
              <p:cNvPr id="2357" name="Google Shape;2357;p46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58" name="Google Shape;2358;p46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9" name="Google Shape;2359;p46"/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</p:grpSpPr>
          <p:sp>
            <p:nvSpPr>
              <p:cNvPr id="2360" name="Google Shape;2360;p46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61" name="Google Shape;2361;p46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6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6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6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6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6" name="Google Shape;2366;p46"/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</p:grpSpPr>
          <p:sp>
            <p:nvSpPr>
              <p:cNvPr id="2367" name="Google Shape;2367;p46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6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2369" name="Google Shape;2369;p46"/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</p:grpSpPr>
          <p:sp>
            <p:nvSpPr>
              <p:cNvPr id="2370" name="Google Shape;2370;p46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6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72" name="Google Shape;2372;p46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2373" name="Google Shape;2373;p46"/>
            <p:cNvGrpSpPr/>
            <p:nvPr/>
          </p:nvGrpSpPr>
          <p:grpSpPr>
            <a:xfrm>
              <a:off x="3561536" y="2585450"/>
              <a:ext cx="61539" cy="99045"/>
              <a:chOff x="3561536" y="2585450"/>
              <a:chExt cx="61539" cy="99045"/>
            </a:xfrm>
          </p:grpSpPr>
          <p:sp>
            <p:nvSpPr>
              <p:cNvPr id="2374" name="Google Shape;2374;p46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6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2376" name="Google Shape;2376;p46"/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</p:grpSpPr>
          <p:sp>
            <p:nvSpPr>
              <p:cNvPr id="2377" name="Google Shape;2377;p46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78" name="Google Shape;2378;p46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9" name="Google Shape;2379;p46"/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</p:grpSpPr>
          <p:sp>
            <p:nvSpPr>
              <p:cNvPr id="2380" name="Google Shape;2380;p46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grpSp>
            <p:nvGrpSpPr>
              <p:cNvPr id="2381" name="Google Shape;2381;p46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382" name="Google Shape;2382;p46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46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84" name="Google Shape;2384;p46"/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</p:grpSpPr>
          <p:sp>
            <p:nvSpPr>
              <p:cNvPr id="2385" name="Google Shape;2385;p46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86" name="Google Shape;2386;p46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7" name="Google Shape;2387;p46"/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</p:grpSpPr>
          <p:sp>
            <p:nvSpPr>
              <p:cNvPr id="2388" name="Google Shape;2388;p46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89" name="Google Shape;2389;p46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0" name="Google Shape;2390;p46"/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</p:grpSpPr>
          <p:sp>
            <p:nvSpPr>
              <p:cNvPr id="2391" name="Google Shape;2391;p46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92" name="Google Shape;2392;p46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3" name="Google Shape;2393;p46"/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6"/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6"/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6" name="Google Shape;2396;p46"/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</p:grpSpPr>
          <p:sp>
            <p:nvSpPr>
              <p:cNvPr id="2397" name="Google Shape;2397;p46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6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6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6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6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6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6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6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6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6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6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6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6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46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6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6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3" name="Google Shape;2413;p46"/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6"/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6"/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6"/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6"/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6"/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6"/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6"/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6"/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6"/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6"/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6"/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6"/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6"/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6"/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6"/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6"/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6"/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6"/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6"/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6"/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6"/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5" name="Google Shape;2435;p46"/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</p:grpSpPr>
          <p:sp>
            <p:nvSpPr>
              <p:cNvPr id="2436" name="Google Shape;2436;p46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6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38" name="Google Shape;2438;p46"/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9" name="Google Shape;2439;p46"/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</p:grpSpPr>
          <p:sp>
            <p:nvSpPr>
              <p:cNvPr id="2440" name="Google Shape;2440;p46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6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6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6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4" name="Google Shape;2444;p46"/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6"/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6"/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6"/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6"/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6"/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6"/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1" name="Google Shape;2451;p46"/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</p:grpSpPr>
          <p:sp>
            <p:nvSpPr>
              <p:cNvPr id="2452" name="Google Shape;2452;p46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46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46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46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56" name="Google Shape;2456;p46"/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6"/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6"/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6"/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6"/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6"/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6"/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5" name="Google Shape;2485;p46"/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</p:grpSpPr>
          <p:sp>
            <p:nvSpPr>
              <p:cNvPr id="2486" name="Google Shape;2486;p46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46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8" name="Google Shape;2488;p46"/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9" name="Google Shape;2489;p46"/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</p:grpSpPr>
          <p:sp>
            <p:nvSpPr>
              <p:cNvPr id="2490" name="Google Shape;2490;p46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46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2" name="Google Shape;2492;p46"/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</p:grpSpPr>
          <p:sp>
            <p:nvSpPr>
              <p:cNvPr id="2493" name="Google Shape;2493;p46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6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5" name="Google Shape;2495;p46"/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6"/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46"/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6"/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6"/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6"/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3" name="Google Shape;2503;p46"/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</p:grpSpPr>
          <p:sp>
            <p:nvSpPr>
              <p:cNvPr id="2504" name="Google Shape;2504;p46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6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46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46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8" name="Google Shape;2508;p46"/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46"/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6"/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6"/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6"/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6"/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6"/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46"/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6" name="Google Shape;2516;p46"/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</p:grpSpPr>
          <p:sp>
            <p:nvSpPr>
              <p:cNvPr id="2517" name="Google Shape;2517;p46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6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6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6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1" name="Google Shape;2521;p46"/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6"/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6"/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6"/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6"/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6"/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6"/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6"/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6"/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6"/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6"/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6"/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6"/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6"/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6"/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6"/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6"/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6"/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6"/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6"/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6"/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6"/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6"/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6"/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6"/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6"/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6"/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6"/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6"/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6"/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6"/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6"/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6"/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6"/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6"/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6"/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6"/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6"/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6"/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6"/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6"/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6"/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3" name="Google Shape;2563;p46"/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</p:grpSpPr>
          <p:sp>
            <p:nvSpPr>
              <p:cNvPr id="2564" name="Google Shape;2564;p46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46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6" name="Google Shape;2566;p46"/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6"/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6"/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6"/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46"/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6"/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6"/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6"/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46"/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46"/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6"/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6"/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6"/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46"/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46"/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46"/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46"/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6"/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46"/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46"/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46"/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46"/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46"/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6"/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6"/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1" name="Google Shape;2601;p46"/>
          <p:cNvSpPr/>
          <p:nvPr/>
        </p:nvSpPr>
        <p:spPr>
          <a:xfrm>
            <a:off x="1434675" y="2409321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46"/>
          <p:cNvGrpSpPr/>
          <p:nvPr/>
        </p:nvGrpSpPr>
        <p:grpSpPr>
          <a:xfrm>
            <a:off x="1028975" y="1967421"/>
            <a:ext cx="441900" cy="441900"/>
            <a:chOff x="876575" y="1934250"/>
            <a:chExt cx="441900" cy="441900"/>
          </a:xfrm>
        </p:grpSpPr>
        <p:sp>
          <p:nvSpPr>
            <p:cNvPr id="2603" name="Google Shape;2603;p46"/>
            <p:cNvSpPr/>
            <p:nvPr/>
          </p:nvSpPr>
          <p:spPr>
            <a:xfrm>
              <a:off x="876575" y="1934250"/>
              <a:ext cx="441900" cy="4419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>
              <a:off x="970750" y="2028425"/>
              <a:ext cx="253500" cy="253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5" name="Google Shape;2605;p46"/>
          <p:cNvSpPr/>
          <p:nvPr/>
        </p:nvSpPr>
        <p:spPr>
          <a:xfrm>
            <a:off x="2927025" y="2315096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46"/>
          <p:cNvSpPr/>
          <p:nvPr/>
        </p:nvSpPr>
        <p:spPr>
          <a:xfrm>
            <a:off x="2793638" y="2467221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7" name="Google Shape;2607;p46"/>
          <p:cNvSpPr/>
          <p:nvPr/>
        </p:nvSpPr>
        <p:spPr>
          <a:xfrm>
            <a:off x="3076182" y="2528871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8" name="Google Shape;2608;p46"/>
          <p:cNvGrpSpPr/>
          <p:nvPr/>
        </p:nvGrpSpPr>
        <p:grpSpPr>
          <a:xfrm>
            <a:off x="3076175" y="2122521"/>
            <a:ext cx="344700" cy="344700"/>
            <a:chOff x="2923775" y="2089350"/>
            <a:chExt cx="344700" cy="344700"/>
          </a:xfrm>
        </p:grpSpPr>
        <p:sp>
          <p:nvSpPr>
            <p:cNvPr id="2609" name="Google Shape;2609;p46"/>
            <p:cNvSpPr/>
            <p:nvPr/>
          </p:nvSpPr>
          <p:spPr>
            <a:xfrm>
              <a:off x="2923775" y="2089350"/>
              <a:ext cx="344700" cy="344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6"/>
            <p:cNvSpPr/>
            <p:nvPr/>
          </p:nvSpPr>
          <p:spPr>
            <a:xfrm>
              <a:off x="2997241" y="2162816"/>
              <a:ext cx="197700" cy="1977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1" name="Google Shape;2611;p46"/>
          <p:cNvSpPr/>
          <p:nvPr/>
        </p:nvSpPr>
        <p:spPr>
          <a:xfrm>
            <a:off x="4228013" y="3665096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p46"/>
          <p:cNvSpPr/>
          <p:nvPr/>
        </p:nvSpPr>
        <p:spPr>
          <a:xfrm>
            <a:off x="4293235" y="3512996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3" name="Google Shape;2613;p46"/>
          <p:cNvSpPr txBox="1"/>
          <p:nvPr/>
        </p:nvSpPr>
        <p:spPr>
          <a:xfrm>
            <a:off x="5266944" y="1005840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14" name="Google Shape;2614;p46"/>
          <p:cNvSpPr txBox="1"/>
          <p:nvPr/>
        </p:nvSpPr>
        <p:spPr>
          <a:xfrm>
            <a:off x="1571838" y="1640360"/>
            <a:ext cx="1113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D3598-7858-1612-59B1-BFB9DA407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07" y="468384"/>
            <a:ext cx="32282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Colectăm dispozitive 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uzate (telefoane și tablete) din piețe internaționale pentru a le prelungi ciclul de viață.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97F9C-660C-7D90-AB3C-525FDA274447}"/>
              </a:ext>
            </a:extLst>
          </p:cNvPr>
          <p:cNvSpPr txBox="1"/>
          <p:nvPr/>
        </p:nvSpPr>
        <p:spPr>
          <a:xfrm>
            <a:off x="1412660" y="4217146"/>
            <a:ext cx="38542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>
                <a:solidFill>
                  <a:schemeClr val="accent2">
                    <a:lumMod val="50000"/>
                  </a:schemeClr>
                </a:solidFill>
              </a:rPr>
              <a:t>Provocarea constă să găsim </a:t>
            </a:r>
            <a:r>
              <a:rPr lang="ro-RO" err="1">
                <a:solidFill>
                  <a:schemeClr val="accent2">
                    <a:lumMod val="50000"/>
                  </a:schemeClr>
                </a:solidFill>
              </a:rPr>
              <a:t>mixul</a:t>
            </a:r>
            <a:r>
              <a:rPr lang="ro-RO">
                <a:solidFill>
                  <a:schemeClr val="accent2">
                    <a:lumMod val="50000"/>
                  </a:schemeClr>
                </a:solidFill>
              </a:rPr>
              <a:t> ideal de produse care să aducă cel mai mare profit, fără a depăși limitele noastre de timp și stoc.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188030AF-0FB6-4FC1-A387-20B02CFA5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6944" y="1296500"/>
                <a:ext cx="3665349" cy="3570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o-RO" altLang="ro-RO" sz="18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Variabile de </a:t>
                </a:r>
                <a:r>
                  <a:rPr kumimoji="0" lang="en-GB" altLang="ro-RO" sz="18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r>
                  <a:rPr kumimoji="0" lang="ro-RO" altLang="ro-RO" sz="1800" b="0" i="1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ecizie</a:t>
                </a:r>
                <a:r>
                  <a:rPr kumimoji="0" lang="ro-RO" altLang="ro-RO" sz="18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​ : </a:t>
                </a:r>
                <a:r>
                  <a:rPr kumimoji="0" lang="en-GB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umărul de unități Eco-</a:t>
                </a:r>
                <a:r>
                  <a:rPr kumimoji="0" lang="ro-RO" altLang="ro-RO" sz="18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Phone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recondiționate.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: </a:t>
                </a:r>
                <a:r>
                  <a:rPr kumimoji="0" lang="en-GB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umărul de unități Tab-Green recondiționate.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o-RO" altLang="ro-RO" sz="18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Indicatori de Profit: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Fiecare Eco-</a:t>
                </a:r>
                <a:r>
                  <a:rPr kumimoji="0" lang="ro-RO" altLang="ro-RO" sz="18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Phone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aduce un profit de 100 u.m.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Fiecare Tab-Green aduce un profit de 150 u.m.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o-RO" altLang="ro-RO" sz="1800" b="0" i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Funcția Obiectiv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(</a:t>
                </a:r>
                <a:r>
                  <a:rPr kumimoji="0" lang="en-GB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copul final):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o-RO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func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o-RO" i="1">
                          <a:latin typeface="Cambria Math" panose="02040503050406030204" pitchFamily="18" charset="0"/>
                        </a:rPr>
                        <m:t>=100</m:t>
                      </m:r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i="1">
                          <a:latin typeface="Cambria Math" panose="02040503050406030204" pitchFamily="18" charset="0"/>
                        </a:rPr>
                        <m:t>+150</m:t>
                      </m:r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o-RO"/>
              </a:p>
              <a:p>
                <a:endParaRPr lang="ro-RO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188030AF-0FB6-4FC1-A387-20B02CFA5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6944" y="1296500"/>
                <a:ext cx="3665349" cy="3570208"/>
              </a:xfrm>
              <a:prstGeom prst="rect">
                <a:avLst/>
              </a:prstGeom>
              <a:blipFill>
                <a:blip r:embed="rId3"/>
                <a:stretch>
                  <a:fillRect l="-1331" t="-5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4">
            <a:extLst>
              <a:ext uri="{FF2B5EF4-FFF2-40B4-BE49-F238E27FC236}">
                <a16:creationId xmlns:a16="http://schemas.microsoft.com/office/drawing/2014/main" id="{4AE3F3EE-E8E7-EB82-D7F5-1BE1DAD66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4968" y="418862"/>
            <a:ext cx="41910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Misiunea Eco-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: Transformăm deșeurile electronice în tehnologie de top prin economie circulară.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550A9EDA-A7EC-3C1F-6759-A108636C62A9}"/>
              </a:ext>
            </a:extLst>
          </p:cNvPr>
          <p:cNvSpPr txBox="1"/>
          <p:nvPr/>
        </p:nvSpPr>
        <p:spPr>
          <a:xfrm>
            <a:off x="2611513" y="6972"/>
            <a:ext cx="342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Definirea problemei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F7BE7F95-1499-403D-0478-A42DACF6A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9874" y="1825234"/>
                <a:ext cx="4564252" cy="1985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Restricția 1: Capacitatea de Diagnosticare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74295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Fiecare Eco-</a:t>
                </a:r>
                <a:r>
                  <a:rPr kumimoji="0" lang="ro-RO" altLang="ro-RO" sz="18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Phone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consumă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2 ore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, iar fiecare Tab-Green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5 ore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Total disponibil săptămânal: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30 de ore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.</a:t>
                </a:r>
              </a:p>
              <a:p>
                <a:pPr marL="742950" lvl="1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Formula: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i="1"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ro-RO" altLang="ro-RO" dirty="0">
                        <a:solidFill>
                          <a:schemeClr val="tx1"/>
                        </a:solidFill>
                        <a:latin typeface="Arial" panose="020B0604020202020204" pitchFamily="34" charset="0"/>
                      </a:rPr>
                      <m:t>≤</m:t>
                    </m:r>
                    <m:r>
                      <a:rPr lang="ro-RO" i="1">
                        <a:latin typeface="Cambria Math" panose="02040503050406030204" pitchFamily="18" charset="0"/>
                      </a:rPr>
                      <m:t>30.</m:t>
                    </m:r>
                  </m:oMath>
                </a14:m>
                <a:endParaRPr lang="ro-RO"/>
              </a:p>
              <a:p>
                <a:pPr marL="457200" marR="0" lvl="1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ro-RO" altLang="ro-RO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o-RO" altLang="ro-RO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F7BE7F95-1499-403D-0478-A42DACF6A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9874" y="1825234"/>
                <a:ext cx="4564252" cy="1985159"/>
              </a:xfrm>
              <a:prstGeom prst="rect">
                <a:avLst/>
              </a:prstGeom>
              <a:blipFill>
                <a:blip r:embed="rId3"/>
                <a:stretch>
                  <a:fillRect l="-1203" t="-3374" r="-9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B9F5474-8D1D-C5A5-92AD-3405502A54E8}"/>
              </a:ext>
            </a:extLst>
          </p:cNvPr>
          <p:cNvSpPr txBox="1"/>
          <p:nvPr/>
        </p:nvSpPr>
        <p:spPr>
          <a:xfrm>
            <a:off x="1325102" y="255890"/>
            <a:ext cx="64240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altLang="ro-RO" sz="3200" b="1">
                <a:solidFill>
                  <a:schemeClr val="tx1"/>
                </a:solidFill>
                <a:latin typeface="Google Sans"/>
              </a:rPr>
              <a:t>Limitările Operaționale (Sistemul de Restricții</a:t>
            </a:r>
            <a:r>
              <a:rPr lang="en-GB" altLang="ro-RO" sz="3200" b="1">
                <a:solidFill>
                  <a:schemeClr val="tx1"/>
                </a:solidFill>
                <a:latin typeface="Google Sans"/>
              </a:rPr>
              <a:t>)</a:t>
            </a:r>
            <a:endParaRPr lang="ro-RO" sz="320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1484-3352-7EA9-9D96-1FB5B0F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D8C0DF0A-574E-02D7-17F3-B4BB2A411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7356" y="1140589"/>
                <a:ext cx="6664272" cy="2862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"/>
                  </a:rPr>
                  <a:t>Restricția 2: Procesul de Micro-lipire și Reparație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Consum: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 oră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per Eco-</a:t>
                </a:r>
                <a:r>
                  <a:rPr kumimoji="0" lang="ro-RO" altLang="ro-RO" sz="1800" b="0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Phone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și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3 ore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per Tab-Green.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Resursă totală: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20 de ore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săptămânal.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≤20.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"/>
                  </a:rPr>
                  <a:t>Restricția 3: Gestiunea Componentelor Critice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Fiecare unitate utilizată necesită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cip de control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Stoc limitat: 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15 unități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pe săptămână.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​ ≤15.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"/>
                  </a:rPr>
                  <a:t>Condiția de </a:t>
                </a:r>
                <a:r>
                  <a:rPr kumimoji="0" lang="ro-RO" altLang="ro-RO" sz="1800" b="1" i="0" u="none" strike="noStrike" cap="none" normalizeH="0" baseline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"/>
                  </a:rPr>
                  <a:t>Nenegativitate</a:t>
                </a:r>
                <a:r>
                  <a:rPr kumimoji="0" lang="ro-RO" altLang="ro-RO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"/>
                  </a:rPr>
                  <a:t>: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Nu putem produce cantități negative: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altLang="ro-RO" sz="1800">
                    <a:solidFill>
                      <a:schemeClr val="tx1"/>
                    </a:solidFill>
                    <a:latin typeface="Arial" panose="020B0604020202020204" pitchFamily="34" charset="0"/>
                  </a:rPr>
                  <a:t>​ </a:t>
                </a:r>
                <a:r>
                  <a:rPr kumimoji="0" lang="ro-RO" altLang="ro-RO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​ ≥0.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D8C0DF0A-574E-02D7-17F3-B4BB2A411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7356" y="1140589"/>
                <a:ext cx="6664272" cy="2862322"/>
              </a:xfrm>
              <a:prstGeom prst="rect">
                <a:avLst/>
              </a:prstGeom>
              <a:blipFill>
                <a:blip r:embed="rId2"/>
                <a:stretch>
                  <a:fillRect l="-549" t="-638" b="-27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8218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Subtitlu 1">
                <a:extLst>
                  <a:ext uri="{FF2B5EF4-FFF2-40B4-BE49-F238E27FC236}">
                    <a16:creationId xmlns:a16="http://schemas.microsoft.com/office/drawing/2014/main" id="{9B183E2C-B480-84F1-9590-13C3E88E8B5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76097" y="1210324"/>
                <a:ext cx="7186235" cy="4059105"/>
              </a:xfrm>
            </p:spPr>
            <p:txBody>
              <a:bodyPr/>
              <a:lstStyle/>
              <a:p>
                <a:pPr marL="342900" lvl="0" indent="-34290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ro-RO" i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Funcția obiectiv</a:t>
                </a:r>
                <a:endParaRPr lang="ro-RO" sz="12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o-RO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func>
                      <m:r>
                        <a:rPr lang="ro-RO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=100</m:t>
                      </m:r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+150</m:t>
                      </m:r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o-RO" sz="12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buFont typeface="+mj-lt"/>
                  <a:buAutoNum type="arabicPeriod" startAt="2"/>
                </a:pPr>
                <a:r>
                  <a:rPr lang="ro-RO" i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Restricțiile</a:t>
                </a:r>
                <a:endParaRPr lang="ro-RO" sz="12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+5</m:t>
                              </m:r>
                              <m:r>
                                <a:rPr lang="ro-RO" i="1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≤20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≤15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o-RO" sz="12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buFont typeface="+mj-lt"/>
                  <a:buAutoNum type="arabicPeriod" startAt="3"/>
                </a:pPr>
                <a:r>
                  <a:rPr lang="ro-RO" i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Condiția de </a:t>
                </a:r>
                <a:r>
                  <a:rPr lang="ro-RO" i="1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nenegativitate</a:t>
                </a:r>
                <a:endParaRPr lang="ro-RO" sz="1200" kern="10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≥0</m:t>
                      </m:r>
                    </m:oMath>
                  </m:oMathPara>
                </a14:m>
                <a:endParaRPr lang="ro-RO"/>
              </a:p>
            </p:txBody>
          </p:sp>
        </mc:Choice>
        <mc:Fallback>
          <p:sp>
            <p:nvSpPr>
              <p:cNvPr id="2" name="Subtitlu 1">
                <a:extLst>
                  <a:ext uri="{FF2B5EF4-FFF2-40B4-BE49-F238E27FC236}">
                    <a16:creationId xmlns:a16="http://schemas.microsoft.com/office/drawing/2014/main" id="{9B183E2C-B480-84F1-9590-13C3E88E8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76097" y="1210324"/>
                <a:ext cx="7186235" cy="4059105"/>
              </a:xfrm>
              <a:blipFill>
                <a:blip r:embed="rId2"/>
                <a:stretch>
                  <a:fillRect l="-8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u 2">
            <a:extLst>
              <a:ext uri="{FF2B5EF4-FFF2-40B4-BE49-F238E27FC236}">
                <a16:creationId xmlns:a16="http://schemas.microsoft.com/office/drawing/2014/main" id="{C5F739A4-7E38-33F1-DF22-D907DF8B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670" y="289413"/>
            <a:ext cx="6495180" cy="576000"/>
          </a:xfrm>
        </p:spPr>
        <p:txBody>
          <a:bodyPr/>
          <a:lstStyle/>
          <a:p>
            <a:r>
              <a:rPr lang="ro-RO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Modelul matematic pentru problema dat</a:t>
            </a:r>
            <a:r>
              <a:rPr lang="ro-RO" sz="3600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</a:p>
        </p:txBody>
      </p:sp>
    </p:spTree>
    <p:extLst>
      <p:ext uri="{BB962C8B-B14F-4D97-AF65-F5344CB8AC3E}">
        <p14:creationId xmlns:p14="http://schemas.microsoft.com/office/powerpoint/2010/main" val="263487878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1950-7F70-F4EE-A4FA-E2CA3887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112DCE-E293-C8DC-8074-673339CBC7BA}"/>
                  </a:ext>
                </a:extLst>
              </p:cNvPr>
              <p:cNvSpPr txBox="1"/>
              <p:nvPr/>
            </p:nvSpPr>
            <p:spPr>
              <a:xfrm>
                <a:off x="1491712" y="1144168"/>
                <a:ext cx="6160576" cy="327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ro-RO" sz="1400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Pentru a aplica Algoritmul Simplex </a:t>
                </a:r>
                <a:r>
                  <a:rPr lang="ro-RO" sz="1400" kern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Primal</a:t>
                </a:r>
                <a:r>
                  <a:rPr lang="ro-RO" sz="1400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(ASP), este necesară aducerea problemei la forma standard (PLS) prin transformarea inegalităților în egalități. Introducem variabilele de compensare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ro-RO" sz="1400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ro-RO" sz="1400" i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Funcția obiectiv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o-RO" sz="1400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</m:func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=100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+150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buFont typeface="+mj-lt"/>
                  <a:buAutoNum type="arabicPeriod" startAt="2"/>
                </a:pPr>
                <a:r>
                  <a:rPr lang="ro-RO" sz="1400" i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Restricțiile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=30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+3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=20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4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o-RO" sz="14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buFont typeface="+mj-lt"/>
                  <a:buAutoNum type="arabicPeriod" startAt="3"/>
                </a:pPr>
                <a:r>
                  <a:rPr lang="ro-RO" sz="1400" i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Condiția de </a:t>
                </a:r>
                <a:r>
                  <a:rPr lang="ro-RO" sz="1400" i="1" kern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nenegativitate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o-RO" sz="1400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sz="1400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≥0</m:t>
                      </m:r>
                    </m:oMath>
                  </m:oMathPara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112DCE-E293-C8DC-8074-673339CBC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12" y="1144168"/>
                <a:ext cx="6160576" cy="3275769"/>
              </a:xfrm>
              <a:prstGeom prst="rect">
                <a:avLst/>
              </a:prstGeom>
              <a:blipFill>
                <a:blip r:embed="rId2"/>
                <a:stretch>
                  <a:fillRect l="-297" r="-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C537D08-EFE9-3571-E44F-0BB447700AFE}"/>
              </a:ext>
            </a:extLst>
          </p:cNvPr>
          <p:cNvSpPr txBox="1"/>
          <p:nvPr/>
        </p:nvSpPr>
        <p:spPr>
          <a:xfrm>
            <a:off x="1162371" y="567238"/>
            <a:ext cx="5940557" cy="46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ro-RO" sz="2400" b="1" i="1" kern="10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Standardizarea modelului (PLS)</a:t>
            </a:r>
          </a:p>
        </p:txBody>
      </p:sp>
    </p:spTree>
    <p:extLst>
      <p:ext uri="{BB962C8B-B14F-4D97-AF65-F5344CB8AC3E}">
        <p14:creationId xmlns:p14="http://schemas.microsoft.com/office/powerpoint/2010/main" val="36165206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4718153" y="995200"/>
            <a:ext cx="3144600" cy="3153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4A53AF-9EA7-3ACC-94C7-51B81710D1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61516" y="2260362"/>
            <a:ext cx="279774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Algoritmul Simplex </a:t>
            </a:r>
            <a:r>
              <a:rPr kumimoji="0" lang="ro-RO" altLang="ro-RO" sz="2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Primal</a:t>
            </a:r>
            <a:endParaRPr kumimoji="0" lang="ro-RO" altLang="ro-RO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EEC8-B52D-646A-BCAD-65864497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E0677-EA41-5DB6-10B5-00CA0F244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25" y="0"/>
            <a:ext cx="71255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4014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04EA-49D4-9A8E-671C-32ED92A1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lines and points&#10;&#10;AI-generated content may be incorrect.">
            <a:extLst>
              <a:ext uri="{FF2B5EF4-FFF2-40B4-BE49-F238E27FC236}">
                <a16:creationId xmlns:a16="http://schemas.microsoft.com/office/drawing/2014/main" id="{B740CCDD-83EF-18B4-1663-350A178D44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20" y="930165"/>
            <a:ext cx="3347085" cy="32792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579173-0328-CE72-CBD9-94541928A30D}"/>
                  </a:ext>
                </a:extLst>
              </p:cNvPr>
              <p:cNvSpPr txBox="1"/>
              <p:nvPr/>
            </p:nvSpPr>
            <p:spPr>
              <a:xfrm>
                <a:off x="4816365" y="2159826"/>
                <a:ext cx="4572000" cy="819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buFont typeface="Symbol" panose="05050102010706020507" pitchFamily="18" charset="2"/>
                  <a:buChar char=""/>
                </a:pPr>
                <a:r>
                  <a:rPr lang="ro-RO" sz="1400" kern="1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Dreapta albastră: </a:t>
                </a:r>
                <a14:m>
                  <m:oMath xmlns:m="http://schemas.openxmlformats.org/officeDocument/2006/math"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</m:t>
                    </m:r>
                    <m:sSub>
                      <m:sSubPr>
                        <m:ctrlP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o-RO" sz="14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=30.</m:t>
                    </m:r>
                  </m:oMath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buFont typeface="Symbol" panose="05050102010706020507" pitchFamily="18" charset="2"/>
                  <a:buChar char=""/>
                </a:pPr>
                <a:r>
                  <a:rPr lang="ro-RO" sz="1400" kern="1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Dreapta verde:</a:t>
                </a:r>
                <a14:m>
                  <m:oMath xmlns:m="http://schemas.openxmlformats.org/officeDocument/2006/math"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+3</m:t>
                    </m:r>
                    <m:sSub>
                      <m:sSub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=20</m:t>
                    </m:r>
                  </m:oMath>
                </a14:m>
                <a:r>
                  <a:rPr lang="ro-RO" sz="1400" kern="1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"/>
                </a:pPr>
                <a:r>
                  <a:rPr lang="ro-RO" sz="1400" kern="1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Dreapta roșie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o-RO" sz="1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=15.</m:t>
                    </m:r>
                  </m:oMath>
                </a14:m>
                <a:endParaRPr lang="ro-RO" sz="1200" kern="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579173-0328-CE72-CBD9-94541928A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365" y="2159826"/>
                <a:ext cx="4572000" cy="819904"/>
              </a:xfrm>
              <a:prstGeom prst="rect">
                <a:avLst/>
              </a:prstGeom>
              <a:blipFill>
                <a:blip r:embed="rId3"/>
                <a:stretch>
                  <a:fillRect l="-4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37187289-D481-C6BD-55CD-6DBE91205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073" y="1636606"/>
            <a:ext cx="287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Zona Admisibilă: Poligonul convex de sub drepte.</a:t>
            </a:r>
          </a:p>
        </p:txBody>
      </p:sp>
      <p:pic>
        <p:nvPicPr>
          <p:cNvPr id="8" name="Picture 7" descr="A hand pointing at something&#10;&#10;AI-generated content may be incorrect.">
            <a:extLst>
              <a:ext uri="{FF2B5EF4-FFF2-40B4-BE49-F238E27FC236}">
                <a16:creationId xmlns:a16="http://schemas.microsoft.com/office/drawing/2014/main" id="{3699B242-E037-B514-43FC-5EEEDC57A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470462">
            <a:off x="2518915" y="1834194"/>
            <a:ext cx="2099862" cy="209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912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p58"/>
          <p:cNvSpPr txBox="1">
            <a:spLocks noGrp="1"/>
          </p:cNvSpPr>
          <p:nvPr>
            <p:ph type="title"/>
          </p:nvPr>
        </p:nvSpPr>
        <p:spPr>
          <a:xfrm>
            <a:off x="943396" y="2268229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o-RO" altLang="ro-RO">
                <a:solidFill>
                  <a:schemeClr val="tx1"/>
                </a:solidFill>
                <a:latin typeface="Arial" panose="020B0604020202020204" pitchFamily="34" charset="0"/>
              </a:rPr>
              <a:t>Validare Computațională</a:t>
            </a:r>
            <a:br>
              <a:rPr lang="ro-RO" altLang="ro-RO">
                <a:solidFill>
                  <a:schemeClr val="tx1"/>
                </a:solidFill>
                <a:latin typeface="Arial" panose="020B0604020202020204" pitchFamily="34" charset="0"/>
              </a:rPr>
            </a:br>
            <a:endParaRPr/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D89EF2-2172-8AD5-C96A-239B871A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5" y="91966"/>
            <a:ext cx="4695999" cy="5143500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7A84885-972A-675A-2982-62657D7CC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60" y="91966"/>
            <a:ext cx="39371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099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25447A2-3FC1-63C8-CA82-5C4F7DC5E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6183" y="0"/>
            <a:ext cx="4765729" cy="514350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176E90-00D5-751C-71D4-60998A8BA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21" y="82118"/>
            <a:ext cx="5356747" cy="282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7052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>
          <a:extLst>
            <a:ext uri="{FF2B5EF4-FFF2-40B4-BE49-F238E27FC236}">
              <a16:creationId xmlns:a16="http://schemas.microsoft.com/office/drawing/2014/main" id="{A548F85C-248E-F207-A4D4-52226BDA7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>
            <a:extLst>
              <a:ext uri="{FF2B5EF4-FFF2-40B4-BE49-F238E27FC236}">
                <a16:creationId xmlns:a16="http://schemas.microsoft.com/office/drawing/2014/main" id="{CB7982AC-0C31-5A4D-5DA8-E42DAF7C90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Eficiență prin optimizare</a:t>
            </a:r>
            <a:endParaRPr b="1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2724" name="Google Shape;2724;p49">
            <a:extLst>
              <a:ext uri="{FF2B5EF4-FFF2-40B4-BE49-F238E27FC236}">
                <a16:creationId xmlns:a16="http://schemas.microsoft.com/office/drawing/2014/main" id="{E0E44E81-3403-52C4-E5B2-AF854E993DA7}"/>
              </a:ext>
            </a:extLst>
          </p:cNvPr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>
            <a:extLst>
              <a:ext uri="{FF2B5EF4-FFF2-40B4-BE49-F238E27FC236}">
                <a16:creationId xmlns:a16="http://schemas.microsoft.com/office/drawing/2014/main" id="{F0FED136-D061-3D54-3580-334B96C399B5}"/>
              </a:ext>
            </a:extLst>
          </p:cNvPr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89725F-3B22-C6F7-0FD0-B82E1BE13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921" y="998140"/>
            <a:ext cx="537465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am obținut?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Strategia Câștigătoare: 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Mixul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ideal de producție este de 15 unități Eco-</a:t>
            </a:r>
            <a:r>
              <a:rPr kumimoji="0" lang="ro-RO" altLang="ro-RO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</a:t>
            </a: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și 0 unități Tab-Green.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Maxim: Implementarea acestui plan generează un beneficiu săptămânal de 1500 u.m.. </a:t>
            </a:r>
            <a:endParaRPr lang="ro-RO" altLang="ro-RO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Utilizarea Resurselor: Am atins eficiența maximă prin saturarea completă a timpului de diagnosticare și a stocului de componente.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5CBCA8-9A9D-9508-9AE8-1A857DC25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921" y="4052714"/>
            <a:ext cx="53746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Modelul a revelat o rezervă de 5 ore în procesul de reparație, resursă ce poate fi redirecționată strategic.</a:t>
            </a:r>
          </a:p>
        </p:txBody>
      </p:sp>
      <p:grpSp>
        <p:nvGrpSpPr>
          <p:cNvPr id="4" name="Google Shape;12666;p73">
            <a:extLst>
              <a:ext uri="{FF2B5EF4-FFF2-40B4-BE49-F238E27FC236}">
                <a16:creationId xmlns:a16="http://schemas.microsoft.com/office/drawing/2014/main" id="{A78489D5-53F9-0232-C1CF-FE7421C61105}"/>
              </a:ext>
            </a:extLst>
          </p:cNvPr>
          <p:cNvGrpSpPr/>
          <p:nvPr/>
        </p:nvGrpSpPr>
        <p:grpSpPr>
          <a:xfrm>
            <a:off x="6737521" y="3529332"/>
            <a:ext cx="1165707" cy="923330"/>
            <a:chOff x="6599718" y="2068734"/>
            <a:chExt cx="940737" cy="721067"/>
          </a:xfrm>
        </p:grpSpPr>
        <p:sp>
          <p:nvSpPr>
            <p:cNvPr id="5" name="Google Shape;12667;p73">
              <a:extLst>
                <a:ext uri="{FF2B5EF4-FFF2-40B4-BE49-F238E27FC236}">
                  <a16:creationId xmlns:a16="http://schemas.microsoft.com/office/drawing/2014/main" id="{EE66C411-A6E1-37EE-9B34-D6F27153715F}"/>
                </a:ext>
              </a:extLst>
            </p:cNvPr>
            <p:cNvSpPr/>
            <p:nvPr/>
          </p:nvSpPr>
          <p:spPr>
            <a:xfrm>
              <a:off x="7138953" y="2569473"/>
              <a:ext cx="366935" cy="115933"/>
            </a:xfrm>
            <a:custGeom>
              <a:avLst/>
              <a:gdLst/>
              <a:ahLst/>
              <a:cxnLst/>
              <a:rect l="l" t="t" r="r" b="b"/>
              <a:pathLst>
                <a:path w="105517" h="33338" fill="none" extrusionOk="0">
                  <a:moveTo>
                    <a:pt x="8231" y="0"/>
                  </a:moveTo>
                  <a:cubicBezTo>
                    <a:pt x="6610" y="2526"/>
                    <a:pt x="5253" y="5215"/>
                    <a:pt x="4198" y="8042"/>
                  </a:cubicBezTo>
                  <a:cubicBezTo>
                    <a:pt x="3205" y="10656"/>
                    <a:pt x="2803" y="13182"/>
                    <a:pt x="2803" y="14991"/>
                  </a:cubicBezTo>
                  <a:cubicBezTo>
                    <a:pt x="2790" y="18636"/>
                    <a:pt x="2840" y="21274"/>
                    <a:pt x="1" y="23008"/>
                  </a:cubicBezTo>
                  <a:cubicBezTo>
                    <a:pt x="164" y="23549"/>
                    <a:pt x="239" y="24114"/>
                    <a:pt x="227" y="24667"/>
                  </a:cubicBezTo>
                  <a:lnTo>
                    <a:pt x="227" y="33338"/>
                  </a:lnTo>
                  <a:lnTo>
                    <a:pt x="105517" y="33338"/>
                  </a:lnTo>
                  <a:lnTo>
                    <a:pt x="10551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F66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6" name="Google Shape;12668;p73">
              <a:extLst>
                <a:ext uri="{FF2B5EF4-FFF2-40B4-BE49-F238E27FC236}">
                  <a16:creationId xmlns:a16="http://schemas.microsoft.com/office/drawing/2014/main" id="{C2AF3EC5-EBFE-C45F-682B-ADB336B63F9B}"/>
                </a:ext>
              </a:extLst>
            </p:cNvPr>
            <p:cNvSpPr/>
            <p:nvPr/>
          </p:nvSpPr>
          <p:spPr>
            <a:xfrm>
              <a:off x="6650497" y="2579172"/>
              <a:ext cx="346397" cy="118079"/>
            </a:xfrm>
            <a:custGeom>
              <a:avLst/>
              <a:gdLst/>
              <a:ahLst/>
              <a:cxnLst/>
              <a:rect l="l" t="t" r="r" b="b"/>
              <a:pathLst>
                <a:path w="99611" h="33955" fill="none" extrusionOk="0">
                  <a:moveTo>
                    <a:pt x="99372" y="21891"/>
                  </a:moveTo>
                  <a:cubicBezTo>
                    <a:pt x="99359" y="21325"/>
                    <a:pt x="99435" y="20760"/>
                    <a:pt x="99611" y="20219"/>
                  </a:cubicBezTo>
                  <a:cubicBezTo>
                    <a:pt x="96758" y="18485"/>
                    <a:pt x="96808" y="15847"/>
                    <a:pt x="96796" y="12215"/>
                  </a:cubicBezTo>
                  <a:cubicBezTo>
                    <a:pt x="96796" y="10405"/>
                    <a:pt x="96394" y="7880"/>
                    <a:pt x="95414" y="5253"/>
                  </a:cubicBezTo>
                  <a:cubicBezTo>
                    <a:pt x="94735" y="3444"/>
                    <a:pt x="93931" y="1697"/>
                    <a:pt x="93014" y="1"/>
                  </a:cubicBezTo>
                  <a:lnTo>
                    <a:pt x="0" y="1"/>
                  </a:lnTo>
                  <a:lnTo>
                    <a:pt x="0" y="33954"/>
                  </a:lnTo>
                  <a:lnTo>
                    <a:pt x="99372" y="33954"/>
                  </a:lnTo>
                  <a:close/>
                </a:path>
              </a:pathLst>
            </a:custGeom>
            <a:noFill/>
            <a:ln w="9525" cap="flat" cmpd="sng">
              <a:solidFill>
                <a:srgbClr val="DBE3E8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7" name="Google Shape;12669;p73">
              <a:extLst>
                <a:ext uri="{FF2B5EF4-FFF2-40B4-BE49-F238E27FC236}">
                  <a16:creationId xmlns:a16="http://schemas.microsoft.com/office/drawing/2014/main" id="{33BAE98A-70C6-E39E-C669-C66D8DFF9998}"/>
                </a:ext>
              </a:extLst>
            </p:cNvPr>
            <p:cNvSpPr/>
            <p:nvPr/>
          </p:nvSpPr>
          <p:spPr>
            <a:xfrm>
              <a:off x="7236268" y="2370428"/>
              <a:ext cx="304187" cy="115978"/>
            </a:xfrm>
            <a:custGeom>
              <a:avLst/>
              <a:gdLst/>
              <a:ahLst/>
              <a:cxnLst/>
              <a:rect l="l" t="t" r="r" b="b"/>
              <a:pathLst>
                <a:path w="87473" h="33351" fill="none" extrusionOk="0">
                  <a:moveTo>
                    <a:pt x="15181" y="0"/>
                  </a:moveTo>
                  <a:cubicBezTo>
                    <a:pt x="12114" y="11913"/>
                    <a:pt x="6975" y="23210"/>
                    <a:pt x="1" y="33350"/>
                  </a:cubicBezTo>
                  <a:lnTo>
                    <a:pt x="87472" y="33350"/>
                  </a:lnTo>
                  <a:lnTo>
                    <a:pt x="8747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F677B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" name="Google Shape;12670;p73">
              <a:extLst>
                <a:ext uri="{FF2B5EF4-FFF2-40B4-BE49-F238E27FC236}">
                  <a16:creationId xmlns:a16="http://schemas.microsoft.com/office/drawing/2014/main" id="{10C50071-66DE-B59F-9FD2-68410ED1E8CA}"/>
                </a:ext>
              </a:extLst>
            </p:cNvPr>
            <p:cNvSpPr/>
            <p:nvPr/>
          </p:nvSpPr>
          <p:spPr>
            <a:xfrm>
              <a:off x="7252744" y="2161243"/>
              <a:ext cx="271454" cy="115982"/>
            </a:xfrm>
            <a:custGeom>
              <a:avLst/>
              <a:gdLst/>
              <a:ahLst/>
              <a:cxnLst/>
              <a:rect l="l" t="t" r="r" b="b"/>
              <a:pathLst>
                <a:path w="78060" h="33352" fill="none" extrusionOk="0">
                  <a:moveTo>
                    <a:pt x="0" y="1"/>
                  </a:moveTo>
                  <a:cubicBezTo>
                    <a:pt x="7288" y="9714"/>
                    <a:pt x="11762" y="21250"/>
                    <a:pt x="12918" y="33351"/>
                  </a:cubicBezTo>
                  <a:lnTo>
                    <a:pt x="78060" y="33351"/>
                  </a:lnTo>
                  <a:lnTo>
                    <a:pt x="7806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9" name="Google Shape;12671;p73">
              <a:extLst>
                <a:ext uri="{FF2B5EF4-FFF2-40B4-BE49-F238E27FC236}">
                  <a16:creationId xmlns:a16="http://schemas.microsoft.com/office/drawing/2014/main" id="{3D0C6824-1495-1C70-24E5-9F2F02BA851C}"/>
                </a:ext>
              </a:extLst>
            </p:cNvPr>
            <p:cNvSpPr/>
            <p:nvPr/>
          </p:nvSpPr>
          <p:spPr>
            <a:xfrm>
              <a:off x="6599718" y="2199610"/>
              <a:ext cx="260051" cy="115978"/>
            </a:xfrm>
            <a:custGeom>
              <a:avLst/>
              <a:gdLst/>
              <a:ahLst/>
              <a:cxnLst/>
              <a:rect l="l" t="t" r="r" b="b"/>
              <a:pathLst>
                <a:path w="74781" h="33351" fill="none" extrusionOk="0">
                  <a:moveTo>
                    <a:pt x="68246" y="28752"/>
                  </a:moveTo>
                  <a:cubicBezTo>
                    <a:pt x="68234" y="18800"/>
                    <a:pt x="70471" y="8973"/>
                    <a:pt x="74781" y="1"/>
                  </a:cubicBezTo>
                  <a:lnTo>
                    <a:pt x="1" y="1"/>
                  </a:lnTo>
                  <a:lnTo>
                    <a:pt x="1" y="33351"/>
                  </a:lnTo>
                  <a:lnTo>
                    <a:pt x="68397" y="33351"/>
                  </a:lnTo>
                  <a:cubicBezTo>
                    <a:pt x="68284" y="31818"/>
                    <a:pt x="68221" y="30285"/>
                    <a:pt x="68246" y="2875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FA1AF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0" name="Google Shape;12672;p73">
              <a:extLst>
                <a:ext uri="{FF2B5EF4-FFF2-40B4-BE49-F238E27FC236}">
                  <a16:creationId xmlns:a16="http://schemas.microsoft.com/office/drawing/2014/main" id="{5292855F-110D-CB45-06BF-746BC0F2CC65}"/>
                </a:ext>
              </a:extLst>
            </p:cNvPr>
            <p:cNvSpPr/>
            <p:nvPr/>
          </p:nvSpPr>
          <p:spPr>
            <a:xfrm>
              <a:off x="6605967" y="2389697"/>
              <a:ext cx="307727" cy="116023"/>
            </a:xfrm>
            <a:custGeom>
              <a:avLst/>
              <a:gdLst/>
              <a:ahLst/>
              <a:cxnLst/>
              <a:rect l="l" t="t" r="r" b="b"/>
              <a:pathLst>
                <a:path w="88491" h="33364" fill="none" extrusionOk="0">
                  <a:moveTo>
                    <a:pt x="70835" y="1"/>
                  </a:moveTo>
                  <a:lnTo>
                    <a:pt x="1" y="1"/>
                  </a:lnTo>
                  <a:lnTo>
                    <a:pt x="1" y="33363"/>
                  </a:lnTo>
                  <a:lnTo>
                    <a:pt x="88490" y="33363"/>
                  </a:lnTo>
                  <a:cubicBezTo>
                    <a:pt x="80662" y="23386"/>
                    <a:pt x="74680" y="12089"/>
                    <a:pt x="7083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9D4DC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grpSp>
          <p:nvGrpSpPr>
            <p:cNvPr id="11" name="Google Shape;12673;p73">
              <a:extLst>
                <a:ext uri="{FF2B5EF4-FFF2-40B4-BE49-F238E27FC236}">
                  <a16:creationId xmlns:a16="http://schemas.microsoft.com/office/drawing/2014/main" id="{E9581978-2FD5-0549-9062-915EECB106A4}"/>
                </a:ext>
              </a:extLst>
            </p:cNvPr>
            <p:cNvGrpSpPr/>
            <p:nvPr/>
          </p:nvGrpSpPr>
          <p:grpSpPr>
            <a:xfrm>
              <a:off x="6836957" y="2068734"/>
              <a:ext cx="461892" cy="721067"/>
              <a:chOff x="6836957" y="2068734"/>
              <a:chExt cx="461892" cy="721067"/>
            </a:xfrm>
          </p:grpSpPr>
          <p:sp>
            <p:nvSpPr>
              <p:cNvPr id="12" name="Google Shape;12674;p73">
                <a:extLst>
                  <a:ext uri="{FF2B5EF4-FFF2-40B4-BE49-F238E27FC236}">
                    <a16:creationId xmlns:a16="http://schemas.microsoft.com/office/drawing/2014/main" id="{E9DB01AF-84D4-4D69-ED21-131E026D499B}"/>
                  </a:ext>
                </a:extLst>
              </p:cNvPr>
              <p:cNvSpPr/>
              <p:nvPr/>
            </p:nvSpPr>
            <p:spPr>
              <a:xfrm>
                <a:off x="7080441" y="2287271"/>
                <a:ext cx="187336" cy="123319"/>
              </a:xfrm>
              <a:custGeom>
                <a:avLst/>
                <a:gdLst/>
                <a:ahLst/>
                <a:cxnLst/>
                <a:rect l="l" t="t" r="r" b="b"/>
                <a:pathLst>
                  <a:path w="53871" h="35462" fill="none" extrusionOk="0">
                    <a:moveTo>
                      <a:pt x="1" y="35461"/>
                    </a:moveTo>
                    <a:lnTo>
                      <a:pt x="47249" y="35461"/>
                    </a:lnTo>
                    <a:cubicBezTo>
                      <a:pt x="51018" y="26213"/>
                      <a:pt x="52665" y="18083"/>
                      <a:pt x="53368" y="12453"/>
                    </a:cubicBezTo>
                    <a:lnTo>
                      <a:pt x="53368" y="12415"/>
                    </a:lnTo>
                    <a:cubicBezTo>
                      <a:pt x="53381" y="12315"/>
                      <a:pt x="53381" y="12227"/>
                      <a:pt x="53393" y="12139"/>
                    </a:cubicBezTo>
                    <a:lnTo>
                      <a:pt x="53419" y="11950"/>
                    </a:lnTo>
                    <a:lnTo>
                      <a:pt x="53469" y="11548"/>
                    </a:lnTo>
                    <a:cubicBezTo>
                      <a:pt x="53506" y="11171"/>
                      <a:pt x="53544" y="10807"/>
                      <a:pt x="53582" y="10455"/>
                    </a:cubicBezTo>
                    <a:cubicBezTo>
                      <a:pt x="53620" y="10091"/>
                      <a:pt x="53645" y="9789"/>
                      <a:pt x="53670" y="9487"/>
                    </a:cubicBezTo>
                    <a:lnTo>
                      <a:pt x="53682" y="9362"/>
                    </a:lnTo>
                    <a:lnTo>
                      <a:pt x="53682" y="9324"/>
                    </a:lnTo>
                    <a:cubicBezTo>
                      <a:pt x="53871" y="6899"/>
                      <a:pt x="53846" y="5441"/>
                      <a:pt x="53846" y="5253"/>
                    </a:cubicBezTo>
                    <a:lnTo>
                      <a:pt x="53833" y="5077"/>
                    </a:lnTo>
                    <a:lnTo>
                      <a:pt x="53833" y="4951"/>
                    </a:lnTo>
                    <a:cubicBezTo>
                      <a:pt x="53833" y="3280"/>
                      <a:pt x="53758" y="1634"/>
                      <a:pt x="5362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F677B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Google Shape;12675;p73">
                <a:extLst>
                  <a:ext uri="{FF2B5EF4-FFF2-40B4-BE49-F238E27FC236}">
                    <a16:creationId xmlns:a16="http://schemas.microsoft.com/office/drawing/2014/main" id="{97032482-20CD-8A06-7903-8E7B9906D830}"/>
                  </a:ext>
                </a:extLst>
              </p:cNvPr>
              <p:cNvSpPr/>
              <p:nvPr/>
            </p:nvSpPr>
            <p:spPr>
              <a:xfrm>
                <a:off x="7080441" y="2105091"/>
                <a:ext cx="182750" cy="157141"/>
              </a:xfrm>
              <a:custGeom>
                <a:avLst/>
                <a:gdLst/>
                <a:ahLst/>
                <a:cxnLst/>
                <a:rect l="l" t="t" r="r" b="b"/>
                <a:pathLst>
                  <a:path w="52552" h="45188" fill="none" extrusionOk="0">
                    <a:moveTo>
                      <a:pt x="1" y="45188"/>
                    </a:moveTo>
                    <a:lnTo>
                      <a:pt x="52551" y="45188"/>
                    </a:lnTo>
                    <a:cubicBezTo>
                      <a:pt x="47211" y="20458"/>
                      <a:pt x="25899" y="1609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B3C3CE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" name="Google Shape;12676;p73">
                <a:extLst>
                  <a:ext uri="{FF2B5EF4-FFF2-40B4-BE49-F238E27FC236}">
                    <a16:creationId xmlns:a16="http://schemas.microsoft.com/office/drawing/2014/main" id="{8C7C12B5-9BE4-FF54-D17F-A281C9131427}"/>
                  </a:ext>
                </a:extLst>
              </p:cNvPr>
              <p:cNvSpPr/>
              <p:nvPr/>
            </p:nvSpPr>
            <p:spPr>
              <a:xfrm>
                <a:off x="6872702" y="2287006"/>
                <a:ext cx="187378" cy="123364"/>
              </a:xfrm>
              <a:custGeom>
                <a:avLst/>
                <a:gdLst/>
                <a:ahLst/>
                <a:cxnLst/>
                <a:rect l="l" t="t" r="r" b="b"/>
                <a:pathLst>
                  <a:path w="53883" h="35475" fill="none" extrusionOk="0">
                    <a:moveTo>
                      <a:pt x="53883" y="1"/>
                    </a:moveTo>
                    <a:lnTo>
                      <a:pt x="239" y="1"/>
                    </a:lnTo>
                    <a:cubicBezTo>
                      <a:pt x="101" y="1634"/>
                      <a:pt x="13" y="3293"/>
                      <a:pt x="13" y="4964"/>
                    </a:cubicBezTo>
                    <a:lnTo>
                      <a:pt x="13" y="5266"/>
                    </a:lnTo>
                    <a:cubicBezTo>
                      <a:pt x="13" y="5454"/>
                      <a:pt x="0" y="6912"/>
                      <a:pt x="189" y="9312"/>
                    </a:cubicBezTo>
                    <a:lnTo>
                      <a:pt x="189" y="9375"/>
                    </a:lnTo>
                    <a:lnTo>
                      <a:pt x="189" y="9488"/>
                    </a:lnTo>
                    <a:lnTo>
                      <a:pt x="189" y="9488"/>
                    </a:lnTo>
                    <a:cubicBezTo>
                      <a:pt x="214" y="9802"/>
                      <a:pt x="252" y="10116"/>
                      <a:pt x="277" y="10443"/>
                    </a:cubicBezTo>
                    <a:cubicBezTo>
                      <a:pt x="314" y="10820"/>
                      <a:pt x="352" y="11185"/>
                      <a:pt x="390" y="11536"/>
                    </a:cubicBezTo>
                    <a:lnTo>
                      <a:pt x="440" y="11964"/>
                    </a:lnTo>
                    <a:lnTo>
                      <a:pt x="465" y="12140"/>
                    </a:lnTo>
                    <a:lnTo>
                      <a:pt x="503" y="12416"/>
                    </a:lnTo>
                    <a:lnTo>
                      <a:pt x="503" y="12466"/>
                    </a:lnTo>
                    <a:cubicBezTo>
                      <a:pt x="1194" y="18083"/>
                      <a:pt x="2840" y="26226"/>
                      <a:pt x="6610" y="35475"/>
                    </a:cubicBezTo>
                    <a:lnTo>
                      <a:pt x="53883" y="3547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C9D4DC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Google Shape;12677;p73">
                <a:extLst>
                  <a:ext uri="{FF2B5EF4-FFF2-40B4-BE49-F238E27FC236}">
                    <a16:creationId xmlns:a16="http://schemas.microsoft.com/office/drawing/2014/main" id="{F6BD99CD-2285-021E-8B35-C693C6A3B1F0}"/>
                  </a:ext>
                </a:extLst>
              </p:cNvPr>
              <p:cNvSpPr/>
              <p:nvPr/>
            </p:nvSpPr>
            <p:spPr>
              <a:xfrm>
                <a:off x="6902504" y="2430686"/>
                <a:ext cx="152902" cy="185984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53482" fill="none" extrusionOk="0">
                    <a:moveTo>
                      <a:pt x="43968" y="1"/>
                    </a:moveTo>
                    <a:lnTo>
                      <a:pt x="0" y="1"/>
                    </a:lnTo>
                    <a:cubicBezTo>
                      <a:pt x="4235" y="8319"/>
                      <a:pt x="10254" y="17191"/>
                      <a:pt x="18837" y="25723"/>
                    </a:cubicBezTo>
                    <a:cubicBezTo>
                      <a:pt x="24454" y="31315"/>
                      <a:pt x="28638" y="37724"/>
                      <a:pt x="31302" y="44823"/>
                    </a:cubicBezTo>
                    <a:cubicBezTo>
                      <a:pt x="31792" y="46130"/>
                      <a:pt x="32194" y="47462"/>
                      <a:pt x="32508" y="48819"/>
                    </a:cubicBezTo>
                    <a:cubicBezTo>
                      <a:pt x="33111" y="51534"/>
                      <a:pt x="35524" y="53469"/>
                      <a:pt x="38301" y="53481"/>
                    </a:cubicBezTo>
                    <a:lnTo>
                      <a:pt x="43968" y="5348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DBE3E8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Google Shape;12678;p73">
                <a:extLst>
                  <a:ext uri="{FF2B5EF4-FFF2-40B4-BE49-F238E27FC236}">
                    <a16:creationId xmlns:a16="http://schemas.microsoft.com/office/drawing/2014/main" id="{9CBE0E13-C611-DFB2-E732-32B95042C934}"/>
                  </a:ext>
                </a:extLst>
              </p:cNvPr>
              <p:cNvSpPr/>
              <p:nvPr/>
            </p:nvSpPr>
            <p:spPr>
              <a:xfrm>
                <a:off x="6877289" y="2104831"/>
                <a:ext cx="182791" cy="157141"/>
              </a:xfrm>
              <a:custGeom>
                <a:avLst/>
                <a:gdLst/>
                <a:ahLst/>
                <a:cxnLst/>
                <a:rect l="l" t="t" r="r" b="b"/>
                <a:pathLst>
                  <a:path w="52564" h="45188" fill="none" extrusionOk="0">
                    <a:moveTo>
                      <a:pt x="52564" y="45187"/>
                    </a:moveTo>
                    <a:lnTo>
                      <a:pt x="52564" y="0"/>
                    </a:lnTo>
                    <a:cubicBezTo>
                      <a:pt x="26653" y="1621"/>
                      <a:pt x="5354" y="20470"/>
                      <a:pt x="1" y="4518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FA1AF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" name="Google Shape;12679;p73">
                <a:extLst>
                  <a:ext uri="{FF2B5EF4-FFF2-40B4-BE49-F238E27FC236}">
                    <a16:creationId xmlns:a16="http://schemas.microsoft.com/office/drawing/2014/main" id="{54A5BD4E-6620-C226-4E5B-C80670258D81}"/>
                  </a:ext>
                </a:extLst>
              </p:cNvPr>
              <p:cNvSpPr/>
              <p:nvPr/>
            </p:nvSpPr>
            <p:spPr>
              <a:xfrm>
                <a:off x="7080441" y="2430686"/>
                <a:ext cx="152860" cy="185938"/>
              </a:xfrm>
              <a:custGeom>
                <a:avLst/>
                <a:gdLst/>
                <a:ahLst/>
                <a:cxnLst/>
                <a:rect l="l" t="t" r="r" b="b"/>
                <a:pathLst>
                  <a:path w="43957" h="53469" fill="none" extrusionOk="0">
                    <a:moveTo>
                      <a:pt x="1" y="1"/>
                    </a:moveTo>
                    <a:lnTo>
                      <a:pt x="1" y="53469"/>
                    </a:lnTo>
                    <a:lnTo>
                      <a:pt x="5668" y="53469"/>
                    </a:lnTo>
                    <a:cubicBezTo>
                      <a:pt x="8445" y="53456"/>
                      <a:pt x="10845" y="51521"/>
                      <a:pt x="11448" y="48819"/>
                    </a:cubicBezTo>
                    <a:cubicBezTo>
                      <a:pt x="11762" y="47450"/>
                      <a:pt x="12165" y="46118"/>
                      <a:pt x="12655" y="44811"/>
                    </a:cubicBezTo>
                    <a:cubicBezTo>
                      <a:pt x="15319" y="37724"/>
                      <a:pt x="19503" y="31302"/>
                      <a:pt x="25120" y="25723"/>
                    </a:cubicBezTo>
                    <a:cubicBezTo>
                      <a:pt x="33703" y="17191"/>
                      <a:pt x="39722" y="8319"/>
                      <a:pt x="439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374F66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8" name="Google Shape;12680;p73">
                <a:extLst>
                  <a:ext uri="{FF2B5EF4-FFF2-40B4-BE49-F238E27FC236}">
                    <a16:creationId xmlns:a16="http://schemas.microsoft.com/office/drawing/2014/main" id="{C2D2DA00-A5E6-0552-42A9-E08DF7F16823}"/>
                  </a:ext>
                </a:extLst>
              </p:cNvPr>
              <p:cNvGrpSpPr/>
              <p:nvPr/>
            </p:nvGrpSpPr>
            <p:grpSpPr>
              <a:xfrm>
                <a:off x="6836957" y="2068734"/>
                <a:ext cx="461892" cy="721067"/>
                <a:chOff x="6836957" y="2068734"/>
                <a:chExt cx="461892" cy="721067"/>
              </a:xfrm>
            </p:grpSpPr>
            <p:sp>
              <p:nvSpPr>
                <p:cNvPr id="19" name="Google Shape;12681;p73">
                  <a:extLst>
                    <a:ext uri="{FF2B5EF4-FFF2-40B4-BE49-F238E27FC236}">
                      <a16:creationId xmlns:a16="http://schemas.microsoft.com/office/drawing/2014/main" id="{273CE0F3-696D-1051-07D5-A323007785F2}"/>
                    </a:ext>
                  </a:extLst>
                </p:cNvPr>
                <p:cNvSpPr/>
                <p:nvPr/>
              </p:nvSpPr>
              <p:spPr>
                <a:xfrm>
                  <a:off x="6996059" y="2711098"/>
                  <a:ext cx="143729" cy="78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31" h="22632" fill="none" extrusionOk="0">
                      <a:moveTo>
                        <a:pt x="20659" y="22632"/>
                      </a:moveTo>
                      <a:lnTo>
                        <a:pt x="20659" y="22632"/>
                      </a:lnTo>
                      <a:cubicBezTo>
                        <a:pt x="19252" y="22632"/>
                        <a:pt x="1" y="15658"/>
                        <a:pt x="1" y="5253"/>
                      </a:cubicBezTo>
                      <a:lnTo>
                        <a:pt x="1" y="0"/>
                      </a:lnTo>
                      <a:lnTo>
                        <a:pt x="41318" y="0"/>
                      </a:lnTo>
                      <a:lnTo>
                        <a:pt x="41318" y="5253"/>
                      </a:lnTo>
                      <a:cubicBezTo>
                        <a:pt x="41330" y="14125"/>
                        <a:pt x="22079" y="22632"/>
                        <a:pt x="20659" y="2263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0" name="Google Shape;12682;p73">
                  <a:extLst>
                    <a:ext uri="{FF2B5EF4-FFF2-40B4-BE49-F238E27FC236}">
                      <a16:creationId xmlns:a16="http://schemas.microsoft.com/office/drawing/2014/main" id="{33C018E2-8F39-C5F5-388A-3E8658F4735E}"/>
                    </a:ext>
                  </a:extLst>
                </p:cNvPr>
                <p:cNvSpPr/>
                <p:nvPr/>
              </p:nvSpPr>
              <p:spPr>
                <a:xfrm>
                  <a:off x="6996059" y="2647693"/>
                  <a:ext cx="143683" cy="88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18" h="25522" fill="none" extrusionOk="0">
                      <a:moveTo>
                        <a:pt x="667" y="0"/>
                      </a:moveTo>
                      <a:lnTo>
                        <a:pt x="40652" y="0"/>
                      </a:lnTo>
                      <a:cubicBezTo>
                        <a:pt x="41016" y="0"/>
                        <a:pt x="41318" y="980"/>
                        <a:pt x="41318" y="2199"/>
                      </a:cubicBezTo>
                      <a:lnTo>
                        <a:pt x="41318" y="23323"/>
                      </a:lnTo>
                      <a:cubicBezTo>
                        <a:pt x="41318" y="24542"/>
                        <a:pt x="41016" y="25522"/>
                        <a:pt x="40652" y="25522"/>
                      </a:cubicBezTo>
                      <a:lnTo>
                        <a:pt x="667" y="25522"/>
                      </a:lnTo>
                      <a:cubicBezTo>
                        <a:pt x="302" y="25522"/>
                        <a:pt x="1" y="24542"/>
                        <a:pt x="1" y="23323"/>
                      </a:cubicBezTo>
                      <a:lnTo>
                        <a:pt x="1" y="2187"/>
                      </a:lnTo>
                      <a:cubicBezTo>
                        <a:pt x="1" y="980"/>
                        <a:pt x="302" y="0"/>
                        <a:pt x="6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" name="Google Shape;12683;p73">
                  <a:extLst>
                    <a:ext uri="{FF2B5EF4-FFF2-40B4-BE49-F238E27FC236}">
                      <a16:creationId xmlns:a16="http://schemas.microsoft.com/office/drawing/2014/main" id="{1CA50B9A-A4CA-A243-4951-A0259819E348}"/>
                    </a:ext>
                  </a:extLst>
                </p:cNvPr>
                <p:cNvSpPr/>
                <p:nvPr/>
              </p:nvSpPr>
              <p:spPr>
                <a:xfrm>
                  <a:off x="6990467" y="2723683"/>
                  <a:ext cx="154870" cy="12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58" fill="none" extrusionOk="0">
                      <a:moveTo>
                        <a:pt x="327" y="0"/>
                      </a:moveTo>
                      <a:lnTo>
                        <a:pt x="44207" y="0"/>
                      </a:lnTo>
                      <a:cubicBezTo>
                        <a:pt x="44383" y="0"/>
                        <a:pt x="44534" y="139"/>
                        <a:pt x="44534" y="327"/>
                      </a:cubicBezTo>
                      <a:lnTo>
                        <a:pt x="44534" y="3343"/>
                      </a:lnTo>
                      <a:cubicBezTo>
                        <a:pt x="44534" y="3519"/>
                        <a:pt x="44383" y="3657"/>
                        <a:pt x="44207" y="3657"/>
                      </a:cubicBezTo>
                      <a:lnTo>
                        <a:pt x="327" y="3657"/>
                      </a:lnTo>
                      <a:cubicBezTo>
                        <a:pt x="151" y="3657"/>
                        <a:pt x="0" y="3519"/>
                        <a:pt x="0" y="3343"/>
                      </a:cubicBezTo>
                      <a:lnTo>
                        <a:pt x="0" y="327"/>
                      </a:lnTo>
                      <a:cubicBezTo>
                        <a:pt x="0" y="139"/>
                        <a:pt x="151" y="0"/>
                        <a:pt x="32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Google Shape;12684;p73">
                  <a:extLst>
                    <a:ext uri="{FF2B5EF4-FFF2-40B4-BE49-F238E27FC236}">
                      <a16:creationId xmlns:a16="http://schemas.microsoft.com/office/drawing/2014/main" id="{25242ABC-732D-CE42-5B74-3FF7241470D4}"/>
                    </a:ext>
                  </a:extLst>
                </p:cNvPr>
                <p:cNvSpPr/>
                <p:nvPr/>
              </p:nvSpPr>
              <p:spPr>
                <a:xfrm>
                  <a:off x="6990467" y="2698339"/>
                  <a:ext cx="154870" cy="1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0" fill="none" extrusionOk="0">
                      <a:moveTo>
                        <a:pt x="42700" y="3669"/>
                      </a:moveTo>
                      <a:lnTo>
                        <a:pt x="1835" y="3669"/>
                      </a:lnTo>
                      <a:cubicBezTo>
                        <a:pt x="830" y="3657"/>
                        <a:pt x="13" y="2840"/>
                        <a:pt x="0" y="1835"/>
                      </a:cubicBezTo>
                      <a:lnTo>
                        <a:pt x="0" y="1835"/>
                      </a:lnTo>
                      <a:cubicBezTo>
                        <a:pt x="13" y="817"/>
                        <a:pt x="830" y="0"/>
                        <a:pt x="1835" y="0"/>
                      </a:cubicBezTo>
                      <a:lnTo>
                        <a:pt x="42700" y="0"/>
                      </a:lnTo>
                      <a:cubicBezTo>
                        <a:pt x="43717" y="0"/>
                        <a:pt x="44534" y="817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40"/>
                        <a:pt x="43717" y="3657"/>
                        <a:pt x="42700" y="3669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" name="Google Shape;12685;p73">
                  <a:extLst>
                    <a:ext uri="{FF2B5EF4-FFF2-40B4-BE49-F238E27FC236}">
                      <a16:creationId xmlns:a16="http://schemas.microsoft.com/office/drawing/2014/main" id="{A9452A32-C2AC-04B4-5593-825D98EB3093}"/>
                    </a:ext>
                  </a:extLst>
                </p:cNvPr>
                <p:cNvSpPr/>
                <p:nvPr/>
              </p:nvSpPr>
              <p:spPr>
                <a:xfrm>
                  <a:off x="6990467" y="2647648"/>
                  <a:ext cx="154870" cy="1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0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30" y="3670"/>
                        <a:pt x="13" y="2853"/>
                        <a:pt x="0" y="1835"/>
                      </a:cubicBezTo>
                      <a:lnTo>
                        <a:pt x="0" y="1835"/>
                      </a:lnTo>
                      <a:cubicBezTo>
                        <a:pt x="13" y="830"/>
                        <a:pt x="830" y="13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3"/>
                        <a:pt x="44534" y="830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53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4" name="Google Shape;12686;p73">
                  <a:extLst>
                    <a:ext uri="{FF2B5EF4-FFF2-40B4-BE49-F238E27FC236}">
                      <a16:creationId xmlns:a16="http://schemas.microsoft.com/office/drawing/2014/main" id="{21BB5063-6776-38AF-BF8E-38069702388E}"/>
                    </a:ext>
                  </a:extLst>
                </p:cNvPr>
                <p:cNvSpPr/>
                <p:nvPr/>
              </p:nvSpPr>
              <p:spPr>
                <a:xfrm>
                  <a:off x="6990467" y="2672992"/>
                  <a:ext cx="154870" cy="12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1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17" y="3670"/>
                        <a:pt x="0" y="2841"/>
                        <a:pt x="0" y="1836"/>
                      </a:cubicBezTo>
                      <a:lnTo>
                        <a:pt x="0" y="1836"/>
                      </a:lnTo>
                      <a:cubicBezTo>
                        <a:pt x="13" y="818"/>
                        <a:pt x="830" y="1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"/>
                        <a:pt x="44534" y="818"/>
                        <a:pt x="44534" y="1836"/>
                      </a:cubicBezTo>
                      <a:lnTo>
                        <a:pt x="44534" y="1836"/>
                      </a:lnTo>
                      <a:cubicBezTo>
                        <a:pt x="44534" y="2841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5" name="Google Shape;12687;p73">
                  <a:extLst>
                    <a:ext uri="{FF2B5EF4-FFF2-40B4-BE49-F238E27FC236}">
                      <a16:creationId xmlns:a16="http://schemas.microsoft.com/office/drawing/2014/main" id="{B82EEC68-65BF-6151-875D-381972717636}"/>
                    </a:ext>
                  </a:extLst>
                </p:cNvPr>
                <p:cNvSpPr/>
                <p:nvPr/>
              </p:nvSpPr>
              <p:spPr>
                <a:xfrm>
                  <a:off x="6836957" y="2068734"/>
                  <a:ext cx="461892" cy="589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23" h="169592" fill="none" extrusionOk="0">
                      <a:moveTo>
                        <a:pt x="132307" y="74442"/>
                      </a:moveTo>
                      <a:cubicBezTo>
                        <a:pt x="132332" y="74278"/>
                        <a:pt x="132345" y="74127"/>
                        <a:pt x="132357" y="73977"/>
                      </a:cubicBezTo>
                      <a:cubicBezTo>
                        <a:pt x="132408" y="73562"/>
                        <a:pt x="132458" y="73135"/>
                        <a:pt x="132496" y="72720"/>
                      </a:cubicBezTo>
                      <a:cubicBezTo>
                        <a:pt x="132533" y="72343"/>
                        <a:pt x="132558" y="71991"/>
                        <a:pt x="132584" y="71639"/>
                      </a:cubicBezTo>
                      <a:cubicBezTo>
                        <a:pt x="132584" y="71577"/>
                        <a:pt x="132596" y="71501"/>
                        <a:pt x="132609" y="71438"/>
                      </a:cubicBezTo>
                      <a:cubicBezTo>
                        <a:pt x="132759" y="69754"/>
                        <a:pt x="132822" y="68071"/>
                        <a:pt x="132797" y="66387"/>
                      </a:cubicBezTo>
                      <a:cubicBezTo>
                        <a:pt x="132797" y="29719"/>
                        <a:pt x="103079" y="1"/>
                        <a:pt x="66411" y="1"/>
                      </a:cubicBezTo>
                      <a:cubicBezTo>
                        <a:pt x="29744" y="1"/>
                        <a:pt x="25" y="29719"/>
                        <a:pt x="25" y="66387"/>
                      </a:cubicBezTo>
                      <a:cubicBezTo>
                        <a:pt x="0" y="68071"/>
                        <a:pt x="63" y="69754"/>
                        <a:pt x="214" y="71438"/>
                      </a:cubicBezTo>
                      <a:cubicBezTo>
                        <a:pt x="214" y="71501"/>
                        <a:pt x="226" y="71577"/>
                        <a:pt x="239" y="71639"/>
                      </a:cubicBezTo>
                      <a:cubicBezTo>
                        <a:pt x="264" y="71991"/>
                        <a:pt x="289" y="72343"/>
                        <a:pt x="327" y="72720"/>
                      </a:cubicBezTo>
                      <a:cubicBezTo>
                        <a:pt x="365" y="73135"/>
                        <a:pt x="415" y="73562"/>
                        <a:pt x="465" y="73977"/>
                      </a:cubicBezTo>
                      <a:cubicBezTo>
                        <a:pt x="478" y="74127"/>
                        <a:pt x="490" y="74278"/>
                        <a:pt x="515" y="74442"/>
                      </a:cubicBezTo>
                      <a:cubicBezTo>
                        <a:pt x="528" y="74617"/>
                        <a:pt x="553" y="74806"/>
                        <a:pt x="578" y="74994"/>
                      </a:cubicBezTo>
                      <a:cubicBezTo>
                        <a:pt x="2187" y="87887"/>
                        <a:pt x="8306" y="113182"/>
                        <a:pt x="31390" y="136140"/>
                      </a:cubicBezTo>
                      <a:cubicBezTo>
                        <a:pt x="35926" y="140652"/>
                        <a:pt x="39545" y="146030"/>
                        <a:pt x="41782" y="152036"/>
                      </a:cubicBezTo>
                      <a:cubicBezTo>
                        <a:pt x="42775" y="154650"/>
                        <a:pt x="43164" y="157176"/>
                        <a:pt x="43177" y="158985"/>
                      </a:cubicBezTo>
                      <a:cubicBezTo>
                        <a:pt x="43202" y="166299"/>
                        <a:pt x="42976" y="169591"/>
                        <a:pt x="66411" y="169591"/>
                      </a:cubicBezTo>
                      <a:cubicBezTo>
                        <a:pt x="89834" y="169591"/>
                        <a:pt x="89621" y="166286"/>
                        <a:pt x="89646" y="158985"/>
                      </a:cubicBezTo>
                      <a:cubicBezTo>
                        <a:pt x="89646" y="157176"/>
                        <a:pt x="90048" y="154650"/>
                        <a:pt x="91041" y="152036"/>
                      </a:cubicBezTo>
                      <a:cubicBezTo>
                        <a:pt x="93277" y="146042"/>
                        <a:pt x="96896" y="140652"/>
                        <a:pt x="101433" y="136140"/>
                      </a:cubicBezTo>
                      <a:cubicBezTo>
                        <a:pt x="124516" y="113182"/>
                        <a:pt x="130636" y="87887"/>
                        <a:pt x="132244" y="74994"/>
                      </a:cubicBezTo>
                      <a:cubicBezTo>
                        <a:pt x="132269" y="74806"/>
                        <a:pt x="132295" y="74617"/>
                        <a:pt x="132307" y="7444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FEFEFE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41363070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A9D6894C-B137-3726-CB1D-0C006B0F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9AC66F91-F997-052D-EF83-19E649752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6474" y="2280832"/>
            <a:ext cx="527105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480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BF794E08-DC22-0606-F990-B2AA364B3E8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7757" y="1217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7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741411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7F8E6AC7-C96E-470F-B416-50B3637A4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16" y="246292"/>
            <a:ext cx="6035425" cy="4248259"/>
          </a:xfrm>
        </p:spPr>
        <p:txBody>
          <a:bodyPr/>
          <a:lstStyle/>
          <a:p>
            <a:pPr marL="285750" indent="-285750" algn="l">
              <a:buChar char="•"/>
            </a:pPr>
            <a:r>
              <a:rPr lang="ro-RO" b="1"/>
              <a:t>Rigoare Matematică:</a:t>
            </a:r>
            <a:r>
              <a:rPr lang="ro-RO"/>
              <a:t> Programarea liniară transformă deciziile complexe în modele matematice precise prin standardizarea formelor (generală, matriceală, canonică).</a:t>
            </a:r>
          </a:p>
          <a:p>
            <a:pPr marL="285750" indent="-285750" algn="l">
              <a:buChar char="•"/>
            </a:pPr>
            <a:r>
              <a:rPr lang="ro-RO" b="1"/>
              <a:t>Eficiența Algoritmului Simplex:</a:t>
            </a:r>
            <a:r>
              <a:rPr lang="ro-RO"/>
              <a:t> Utilizarea variabilelor de compensare permite tratarea sistematică a restricțiilor și identificarea soluției optime în vârful poligonului de convexitate.</a:t>
            </a:r>
          </a:p>
          <a:p>
            <a:pPr marL="285750" indent="-285750" algn="l">
              <a:buChar char="•"/>
            </a:pPr>
            <a:r>
              <a:rPr lang="ro-RO" b="1"/>
              <a:t>Identificarea Blocajelor:</a:t>
            </a:r>
            <a:r>
              <a:rPr lang="ro-RO"/>
              <a:t> Optimizarea a evidențiat resursele critice (capacitatea de diagnosticare și stocul de cipuri) care limitează scalarea profitului.</a:t>
            </a:r>
          </a:p>
          <a:p>
            <a:pPr marL="285750" indent="-285750" algn="l">
              <a:buChar char="•"/>
            </a:pPr>
            <a:r>
              <a:rPr lang="ro-RO" b="1"/>
              <a:t>Validare Multidirecțională:</a:t>
            </a:r>
            <a:r>
              <a:rPr lang="ro-RO"/>
              <a:t> Acuratețea modelului a fost confirmată prin trei metode: calcul manual (Simplex), interpretare geometrică și verificare computațională în </a:t>
            </a:r>
            <a:r>
              <a:rPr lang="ro-RO" b="1"/>
              <a:t>Python</a:t>
            </a:r>
            <a:r>
              <a:rPr lang="ro-RO"/>
              <a:t>.</a:t>
            </a:r>
          </a:p>
          <a:p>
            <a:pPr marL="285750" indent="-285750" algn="l">
              <a:buChar char="•"/>
            </a:pPr>
            <a:r>
              <a:rPr lang="ro-RO" b="1"/>
              <a:t>Valoare Strategică:</a:t>
            </a:r>
            <a:r>
              <a:rPr lang="ro-RO"/>
              <a:t> Trecerea de la intuiție la decizii fundamentate pe date, esențială pentru managementul resurselor limitate într-un start-up.</a:t>
            </a:r>
          </a:p>
          <a:p>
            <a:pPr marL="285750" indent="-285750" algn="l">
              <a:buChar char="•"/>
            </a:pPr>
            <a:r>
              <a:rPr lang="ro-RO"/>
              <a:t>Rezultatul Studiului de Caz:</a:t>
            </a:r>
          </a:p>
          <a:p>
            <a:pPr marL="742950" lvl="1" indent="-285750">
              <a:buFont typeface="Courier New"/>
              <a:buChar char="o"/>
            </a:pPr>
            <a:r>
              <a:rPr lang="ro-RO" b="1"/>
              <a:t>Profit Maxim:</a:t>
            </a:r>
            <a:r>
              <a:rPr lang="ro-RO"/>
              <a:t> 1500 u.m. / săptămână.</a:t>
            </a:r>
          </a:p>
          <a:p>
            <a:pPr marL="742950" lvl="1" indent="-285750">
              <a:buFont typeface="Courier New"/>
              <a:buChar char="o"/>
            </a:pPr>
            <a:r>
              <a:rPr lang="ro-RO" b="1"/>
              <a:t>Mix de Producție:</a:t>
            </a:r>
            <a:r>
              <a:rPr lang="ro-RO"/>
              <a:t> 15 unități Eco-Phone (producție exclusivă).</a:t>
            </a:r>
          </a:p>
        </p:txBody>
      </p:sp>
    </p:spTree>
    <p:extLst>
      <p:ext uri="{BB962C8B-B14F-4D97-AF65-F5344CB8AC3E}">
        <p14:creationId xmlns:p14="http://schemas.microsoft.com/office/powerpoint/2010/main" val="989867591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>
          <a:extLst>
            <a:ext uri="{FF2B5EF4-FFF2-40B4-BE49-F238E27FC236}">
              <a16:creationId xmlns:a16="http://schemas.microsoft.com/office/drawing/2014/main" id="{C6DB24D9-2B1B-BC02-910D-B5DFEFBE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>
            <a:extLst>
              <a:ext uri="{FF2B5EF4-FFF2-40B4-BE49-F238E27FC236}">
                <a16:creationId xmlns:a16="http://schemas.microsoft.com/office/drawing/2014/main" id="{D3759834-CD6A-B1A8-2619-11510158F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6474" y="2280832"/>
            <a:ext cx="5271052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sz="320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Bibliografie</a:t>
            </a:r>
          </a:p>
        </p:txBody>
      </p:sp>
      <p:sp>
        <p:nvSpPr>
          <p:cNvPr id="2156" name="Google Shape;2156;p38">
            <a:extLst>
              <a:ext uri="{FF2B5EF4-FFF2-40B4-BE49-F238E27FC236}">
                <a16:creationId xmlns:a16="http://schemas.microsoft.com/office/drawing/2014/main" id="{E768BA48-101F-5AF0-BE42-42059E437C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7757" y="1217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</a:rPr>
              <a:t>0</a:t>
            </a:r>
            <a:r>
              <a:rPr lang="ro-RO" sz="5400">
                <a:latin typeface="Calibri"/>
                <a:ea typeface="Calibri"/>
                <a:cs typeface="Calibri"/>
              </a:rPr>
              <a:t>8</a:t>
            </a:r>
            <a:endParaRPr lang="en" sz="5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0825461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tăText 16">
            <a:extLst>
              <a:ext uri="{FF2B5EF4-FFF2-40B4-BE49-F238E27FC236}">
                <a16:creationId xmlns:a16="http://schemas.microsoft.com/office/drawing/2014/main" id="{6BFF3C4A-BF19-1ABB-41F9-12FD9A4CBC5D}"/>
              </a:ext>
            </a:extLst>
          </p:cNvPr>
          <p:cNvSpPr txBox="1"/>
          <p:nvPr/>
        </p:nvSpPr>
        <p:spPr>
          <a:xfrm>
            <a:off x="1215097" y="1080849"/>
            <a:ext cx="6825343" cy="40626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GB"/>
              <a:t>​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Bibic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, S.-M. (2021).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Cercetări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Operaționale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: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Programare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Liniară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(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Cursuri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și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Seminare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). </a:t>
            </a:r>
          </a:p>
          <a:p>
            <a:pPr fontAlgn="base"/>
            <a:r>
              <a:rPr lang="en-GB" sz="1200" i="1">
                <a:latin typeface="Barlow Semi Condensed Medium"/>
                <a:cs typeface="Times New Roman"/>
              </a:rPr>
              <a:t>​6 </a:t>
            </a:r>
            <a:r>
              <a:rPr lang="en-GB" sz="1200" i="1" err="1">
                <a:latin typeface="Barlow Semi Condensed Medium"/>
                <a:cs typeface="Times New Roman"/>
              </a:rPr>
              <a:t>Probleme</a:t>
            </a:r>
            <a:r>
              <a:rPr lang="en-GB" sz="1200" i="1">
                <a:latin typeface="Barlow Semi Condensed Medium"/>
                <a:cs typeface="Times New Roman"/>
              </a:rPr>
              <a:t> de </a:t>
            </a:r>
            <a:r>
              <a:rPr lang="en-GB" sz="1200" i="1" err="1">
                <a:latin typeface="Barlow Semi Condensed Medium"/>
                <a:cs typeface="Times New Roman"/>
              </a:rPr>
              <a:t>Programare</a:t>
            </a:r>
            <a:r>
              <a:rPr lang="en-GB" sz="1200" i="1">
                <a:latin typeface="Barlow Semi Condensed Medium"/>
                <a:cs typeface="Times New Roman"/>
              </a:rPr>
              <a:t> </a:t>
            </a:r>
            <a:r>
              <a:rPr lang="en-GB" sz="1200" i="1" err="1">
                <a:latin typeface="Barlow Semi Condensed Medium"/>
                <a:cs typeface="Times New Roman"/>
              </a:rPr>
              <a:t>Liniară</a:t>
            </a:r>
            <a:r>
              <a:rPr lang="en-GB" sz="1200" i="1">
                <a:latin typeface="Barlow Semi Condensed Medium"/>
                <a:cs typeface="Times New Roman"/>
              </a:rPr>
              <a:t>.</a:t>
            </a:r>
            <a:r>
              <a:rPr lang="en-GB" sz="1200">
                <a:latin typeface="Barlow Semi Condensed Medium"/>
                <a:cs typeface="Times New Roman"/>
              </a:rPr>
              <a:t> (n.d.). Retrieved from </a:t>
            </a:r>
            <a:r>
              <a:rPr lang="en-GB" sz="1200">
                <a:latin typeface="Barlow Semi Condensed Medium"/>
                <a:cs typeface="Times New Roman"/>
                <a:hlinkClick r:id="rId4"/>
              </a:rPr>
              <a:t>https://ro.scribd.com/doc/310040773/6-Probleme-de-Programare-Liniara </a:t>
            </a:r>
            <a:endParaRPr lang="en-GB" sz="1200">
              <a:latin typeface="Barlow Semi Condensed Medium"/>
              <a:cs typeface="Times New Roman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​Anthropic. (2026). Claude 3. 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https://claude.ai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​Google. (2026). Gemini (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Versiunea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1.5 Flash). 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https://gemini.google.com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/>
              </a:rPr>
              <a:t>​</a:t>
            </a:r>
            <a:r>
              <a:rPr lang="en-GB" sz="1200" err="1">
                <a:latin typeface="Barlow Semi Condensed Medium"/>
                <a:cs typeface="Times New Roman"/>
              </a:rPr>
              <a:t>Grigoraș</a:t>
            </a:r>
            <a:r>
              <a:rPr lang="en-GB" sz="1200">
                <a:latin typeface="Barlow Semi Condensed Medium"/>
                <a:cs typeface="Times New Roman"/>
              </a:rPr>
              <a:t>, G. (n.d.). </a:t>
            </a:r>
            <a:r>
              <a:rPr lang="en-GB" sz="1200" i="1" err="1">
                <a:latin typeface="Barlow Semi Condensed Medium"/>
                <a:cs typeface="Times New Roman"/>
              </a:rPr>
              <a:t>Programarea</a:t>
            </a:r>
            <a:r>
              <a:rPr lang="en-GB" sz="1200" i="1">
                <a:latin typeface="Barlow Semi Condensed Medium"/>
                <a:cs typeface="Times New Roman"/>
              </a:rPr>
              <a:t> </a:t>
            </a:r>
            <a:r>
              <a:rPr lang="en-GB" sz="1200" i="1" err="1">
                <a:latin typeface="Barlow Semi Condensed Medium"/>
                <a:cs typeface="Times New Roman"/>
              </a:rPr>
              <a:t>Liniară</a:t>
            </a:r>
            <a:r>
              <a:rPr lang="en-GB" sz="1200" i="1">
                <a:latin typeface="Barlow Semi Condensed Medium"/>
                <a:cs typeface="Times New Roman"/>
              </a:rPr>
              <a:t>.</a:t>
            </a:r>
            <a:r>
              <a:rPr lang="en-GB" sz="1200">
                <a:latin typeface="Barlow Semi Condensed Medium"/>
                <a:cs typeface="Times New Roman"/>
              </a:rPr>
              <a:t> Retrieved from </a:t>
            </a:r>
            <a:r>
              <a:rPr lang="en-GB" sz="1200">
                <a:latin typeface="Barlow Semi Condensed Medium"/>
                <a:cs typeface="Times New Roman"/>
                <a:hlinkClick r:id="rId4"/>
              </a:rPr>
              <a:t>http://gheorghe-grigoras.ieeia.tuiasi.ro/SDOE/5_Programarea%20LINIARA.pdf </a:t>
            </a:r>
            <a:endParaRPr lang="en-GB" sz="1200">
              <a:latin typeface="Barlow Semi Condensed Medium"/>
              <a:cs typeface="Times New Roman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​Marin, M. (n.d.). 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Logica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și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Programare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Logică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(C-05).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 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https://staff.fmi.uvt.ro/~mircea.marin/lectures/CSI/C-05.pdf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/>
              </a:rPr>
              <a:t>​</a:t>
            </a:r>
            <a:r>
              <a:rPr lang="en-GB" sz="1200" err="1">
                <a:latin typeface="Barlow Semi Condensed Medium"/>
                <a:cs typeface="Times New Roman"/>
              </a:rPr>
              <a:t>Masgras</a:t>
            </a:r>
            <a:r>
              <a:rPr lang="en-GB" sz="1200">
                <a:latin typeface="Barlow Semi Condensed Medium"/>
                <a:cs typeface="Times New Roman"/>
              </a:rPr>
              <a:t>, V. (n.d.). </a:t>
            </a:r>
            <a:r>
              <a:rPr lang="en-GB" sz="1200" i="1" err="1">
                <a:latin typeface="Barlow Semi Condensed Medium"/>
                <a:cs typeface="Times New Roman"/>
              </a:rPr>
              <a:t>Cercetări</a:t>
            </a:r>
            <a:r>
              <a:rPr lang="en-GB" sz="1200" i="1">
                <a:latin typeface="Barlow Semi Condensed Medium"/>
                <a:cs typeface="Times New Roman"/>
              </a:rPr>
              <a:t> </a:t>
            </a:r>
            <a:r>
              <a:rPr lang="en-GB" sz="1200" i="1" err="1">
                <a:latin typeface="Barlow Semi Condensed Medium"/>
                <a:cs typeface="Times New Roman"/>
              </a:rPr>
              <a:t>Operaționale</a:t>
            </a:r>
            <a:r>
              <a:rPr lang="en-GB" sz="1200" i="1">
                <a:latin typeface="Barlow Semi Condensed Medium"/>
                <a:cs typeface="Times New Roman"/>
              </a:rPr>
              <a:t>.</a:t>
            </a:r>
            <a:r>
              <a:rPr lang="en-GB" sz="1200">
                <a:latin typeface="Barlow Semi Condensed Medium"/>
                <a:cs typeface="Times New Roman"/>
              </a:rPr>
              <a:t> Retrieved from </a:t>
            </a:r>
            <a:r>
              <a:rPr lang="en-GB" sz="1200">
                <a:latin typeface="Barlow Semi Condensed Medium"/>
                <a:cs typeface="Times New Roman"/>
                <a:hlinkClick r:id="rId4"/>
              </a:rPr>
              <a:t>https://ro.scribd.com/document/566822640/V-Masgras-Cercetari-Operationale </a:t>
            </a:r>
            <a:endParaRPr lang="en-GB" sz="1200">
              <a:latin typeface="Barlow Semi Condensed Medium"/>
              <a:cs typeface="Times New Roman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Mitruț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, D. (n.d.). 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Baze ale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Cercetării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Operaționale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.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 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https://asecib.ase.ro/Mitrut%20Dorin/Curs/bazeCO/pdf/23PL.pdf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​Nica, V. (n.d.). 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Cercetări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Operaționale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: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Capitolul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11.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 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https://asecib.ase.ro/Nica/CO/BCO/capitolul11.pdf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​Nica, V. (n.d.). 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Cercetări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Operaționale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: </a:t>
            </a:r>
            <a:r>
              <a:rPr lang="en-GB" sz="1200" i="1" err="1">
                <a:latin typeface="Barlow Semi Condensed Medium"/>
                <a:cs typeface="Times New Roman" panose="02020603050405020304" pitchFamily="18" charset="0"/>
              </a:rPr>
              <a:t>Capitolul</a:t>
            </a:r>
            <a:r>
              <a:rPr lang="en-GB" sz="1200" i="1">
                <a:latin typeface="Barlow Semi Condensed Medium"/>
                <a:cs typeface="Times New Roman" panose="02020603050405020304" pitchFamily="18" charset="0"/>
              </a:rPr>
              <a:t> 17.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 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https://asecib.ase.ro/Nica/CO/BCO/capitolul17.pdf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​OpenAI. (2026). ChatGPT (</a:t>
            </a:r>
            <a:r>
              <a:rPr lang="en-GB" sz="1200" err="1">
                <a:latin typeface="Barlow Semi Condensed Medium"/>
                <a:cs typeface="Times New Roman" panose="02020603050405020304" pitchFamily="18" charset="0"/>
              </a:rPr>
              <a:t>Versiunea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 GPT-4). Retrieved from </a:t>
            </a:r>
            <a:r>
              <a:rPr lang="en-GB" sz="1200">
                <a:latin typeface="Barlow Semi Condensed Medium"/>
                <a:cs typeface="Times New Roman" panose="02020603050405020304" pitchFamily="18" charset="0"/>
                <a:hlinkClick r:id="rId4"/>
              </a:rPr>
              <a:t>https://chat.openai.com </a:t>
            </a:r>
            <a:endParaRPr lang="en-GB" sz="1200">
              <a:latin typeface="Barlow Semi Condensed Medium"/>
              <a:cs typeface="Times New Roman" panose="02020603050405020304" pitchFamily="18" charset="0"/>
            </a:endParaRPr>
          </a:p>
          <a:p>
            <a:pPr fontAlgn="base"/>
            <a:r>
              <a:rPr lang="en-GB" sz="1200">
                <a:latin typeface="Barlow Semi Condensed Medium"/>
                <a:cs typeface="Times New Roman" panose="02020603050405020304" pitchFamily="18" charset="0"/>
              </a:rPr>
              <a:t>​​ </a:t>
            </a:r>
          </a:p>
          <a:p>
            <a:pPr fontAlgn="base"/>
            <a:endParaRPr lang="en-GB"/>
          </a:p>
          <a:p>
            <a:endParaRPr lang="ro-RO"/>
          </a:p>
        </p:txBody>
      </p:sp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1664553" y="1901572"/>
            <a:ext cx="6328282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8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o-RO" sz="7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ro-RO" sz="7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</a:t>
            </a:r>
            <a:r>
              <a:rPr lang="ro-RO" sz="8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ț</a:t>
            </a:r>
            <a:r>
              <a:rPr lang="ro-RO" sz="7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umim</a:t>
            </a:r>
            <a:r>
              <a:rPr lang="en" sz="7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sz="7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ine 1" descr="O imagine care conține alb, proiectare&#10;&#10;Conținutul generat de inteligența artificială poate fi incorect.">
            <a:extLst>
              <a:ext uri="{FF2B5EF4-FFF2-40B4-BE49-F238E27FC236}">
                <a16:creationId xmlns:a16="http://schemas.microsoft.com/office/drawing/2014/main" id="{A8026BE8-3329-C6D9-7F0D-2ED7CDED5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7" y="3339622"/>
            <a:ext cx="4713572" cy="10477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50281F2F6BA74597D87E1AFB435829" ma:contentTypeVersion="10" ma:contentTypeDescription="Create a new document." ma:contentTypeScope="" ma:versionID="ae4822fc09ca50c376532d6f5888fa2d">
  <xsd:schema xmlns:xsd="http://www.w3.org/2001/XMLSchema" xmlns:xs="http://www.w3.org/2001/XMLSchema" xmlns:p="http://schemas.microsoft.com/office/2006/metadata/properties" xmlns:ns3="3f4e17d9-5d65-4eaf-aa04-ff10cbdec6e8" targetNamespace="http://schemas.microsoft.com/office/2006/metadata/properties" ma:root="true" ma:fieldsID="a0a8b6e565781a80fc54fc6997aa10bb" ns3:_="">
    <xsd:import namespace="3f4e17d9-5d65-4eaf-aa04-ff10cbdec6e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4e17d9-5d65-4eaf-aa04-ff10cbdec6e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4e17d9-5d65-4eaf-aa04-ff10cbdec6e8" xsi:nil="true"/>
  </documentManagement>
</p:properties>
</file>

<file path=customXml/itemProps1.xml><?xml version="1.0" encoding="utf-8"?>
<ds:datastoreItem xmlns:ds="http://schemas.openxmlformats.org/officeDocument/2006/customXml" ds:itemID="{DB0B1AAB-3472-4F6B-AE88-040FD5267173}">
  <ds:schemaRefs>
    <ds:schemaRef ds:uri="3f4e17d9-5d65-4eaf-aa04-ff10cbdec6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62BAD5-3BF9-456B-B754-39B4D6E202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E593AD-7EDE-463C-8C46-8E601DFBE946}">
  <ds:schemaRefs>
    <ds:schemaRef ds:uri="3f4e17d9-5d65-4eaf-aa04-ff10cbdec6e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Expunere pe ecran (16:9)</PresentationFormat>
  <Slides>33</Slides>
  <Notes>21</Notes>
  <HiddenSlides>0</HiddenSlide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33</vt:i4>
      </vt:variant>
    </vt:vector>
  </HeadingPairs>
  <TitlesOfParts>
    <vt:vector size="34" baseType="lpstr">
      <vt:lpstr>Technology Consulting by Slidesgo</vt:lpstr>
      <vt:lpstr>Problema de programare liniară </vt:lpstr>
      <vt:lpstr>Cuprins</vt:lpstr>
      <vt:lpstr>Introducere în programarea liniară</vt:lpstr>
      <vt:lpstr>Prezentare PowerPoint</vt:lpstr>
      <vt:lpstr>Algoritmul Simplex Primal-scurtă introducere </vt:lpstr>
      <vt:lpstr>Prezentare PowerPoint</vt:lpstr>
      <vt:lpstr>Modelul matematic </vt:lpstr>
      <vt:lpstr>Forma generală(FG)</vt:lpstr>
      <vt:lpstr>Aducerea problemei de programare liniară la forma standard (PLS)</vt:lpstr>
      <vt:lpstr>Prezentare PowerPoint</vt:lpstr>
      <vt:lpstr>R1 </vt:lpstr>
      <vt:lpstr>R2</vt:lpstr>
      <vt:lpstr>Pseudocod</vt:lpstr>
      <vt:lpstr>Pseudocod simplex primal</vt:lpstr>
      <vt:lpstr>Prezentare PowerPoint</vt:lpstr>
      <vt:lpstr>Model de optimizare a profitului </vt:lpstr>
      <vt:lpstr>Prezentare PowerPoint</vt:lpstr>
      <vt:lpstr>Prezentare PowerPoint</vt:lpstr>
      <vt:lpstr>Prezentare PowerPoint</vt:lpstr>
      <vt:lpstr>Modelul matematic pentru problema dată</vt:lpstr>
      <vt:lpstr>Prezentare PowerPoint</vt:lpstr>
      <vt:lpstr>Prezentare PowerPoint</vt:lpstr>
      <vt:lpstr>Prezentare PowerPoint</vt:lpstr>
      <vt:lpstr>Prezentare PowerPoint</vt:lpstr>
      <vt:lpstr>Validare Computațională </vt:lpstr>
      <vt:lpstr>Prezentare PowerPoint</vt:lpstr>
      <vt:lpstr>Prezentare PowerPoint</vt:lpstr>
      <vt:lpstr>Eficiență prin optimizare</vt:lpstr>
      <vt:lpstr>Concluzii</vt:lpstr>
      <vt:lpstr>Prezentare PowerPoint</vt:lpstr>
      <vt:lpstr>Bibliografie</vt:lpstr>
      <vt:lpstr>Prezentare PowerPoint</vt:lpstr>
      <vt:lpstr>Vă mulțumim!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revision>30</cp:revision>
  <dcterms:modified xsi:type="dcterms:W3CDTF">2026-03-23T17:15:06Z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0x010100DC50281F2F6BA74597D87E1AFB435829</vt:lpwstr>
  </property>
</Properties>
</file>